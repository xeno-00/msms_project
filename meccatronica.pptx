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4" r:id="rId6"/>
    <p:sldId id="265" r:id="rId7"/>
    <p:sldId id="261" r:id="rId8"/>
    <p:sldId id="262" r:id="rId9"/>
    <p:sldId id="266" r:id="rId10"/>
    <p:sldId id="259" r:id="rId11"/>
    <p:sldId id="267" r:id="rId12"/>
    <p:sldId id="263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08B5D-A254-9A4C-8B2A-41F13039A196}" v="187" dt="2025-07-22T22:05:35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20"/>
    <p:restoredTop sz="94599"/>
  </p:normalViewPr>
  <p:slideViewPr>
    <p:cSldViewPr snapToGrid="0" showGuides="1">
      <p:cViewPr varScale="1">
        <p:scale>
          <a:sx n="87" d="100"/>
          <a:sy n="87" d="100"/>
        </p:scale>
        <p:origin x="96" y="149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AD6CDF-3F9D-9C47-ACDB-AF25D896ADB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it-IT"/>
        </a:p>
      </dgm:t>
    </dgm:pt>
    <dgm:pt modelId="{AA2B8F0E-AA00-C245-B005-36189CC36803}">
      <dgm:prSet/>
      <dgm:spPr/>
      <dgm:t>
        <a:bodyPr/>
        <a:lstStyle/>
        <a:p>
          <a:r>
            <a:rPr lang="en-US" b="1"/>
            <a:t>Modeling and simulation of UR-5 robotic manipulator </a:t>
          </a:r>
          <a:endParaRPr lang="it-IT"/>
        </a:p>
      </dgm:t>
    </dgm:pt>
    <dgm:pt modelId="{169449F2-F068-934E-9851-34EAFD678AA1}" type="parTrans" cxnId="{7D87B291-BF54-6445-8851-93948CE53F09}">
      <dgm:prSet/>
      <dgm:spPr/>
      <dgm:t>
        <a:bodyPr/>
        <a:lstStyle/>
        <a:p>
          <a:endParaRPr lang="it-IT"/>
        </a:p>
      </dgm:t>
    </dgm:pt>
    <dgm:pt modelId="{562B049A-9C38-8847-89DC-4067D39D9A49}" type="sibTrans" cxnId="{7D87B291-BF54-6445-8851-93948CE53F09}">
      <dgm:prSet/>
      <dgm:spPr/>
      <dgm:t>
        <a:bodyPr/>
        <a:lstStyle/>
        <a:p>
          <a:endParaRPr lang="it-IT"/>
        </a:p>
      </dgm:t>
    </dgm:pt>
    <dgm:pt modelId="{09797F2C-1576-5540-8AC1-D435A89B90EA}">
      <dgm:prSet/>
      <dgm:spPr/>
      <dgm:t>
        <a:bodyPr/>
        <a:lstStyle/>
        <a:p>
          <a:r>
            <a:rPr lang="en-US" b="1"/>
            <a:t>Simulation developed in 20-sim</a:t>
          </a:r>
          <a:endParaRPr lang="it-IT"/>
        </a:p>
      </dgm:t>
    </dgm:pt>
    <dgm:pt modelId="{E57D4F7E-9A36-4845-B883-F8A514B00590}" type="parTrans" cxnId="{E7FF8EBB-D223-BA41-904A-2680EB5793AC}">
      <dgm:prSet/>
      <dgm:spPr/>
      <dgm:t>
        <a:bodyPr/>
        <a:lstStyle/>
        <a:p>
          <a:endParaRPr lang="it-IT"/>
        </a:p>
      </dgm:t>
    </dgm:pt>
    <dgm:pt modelId="{D8FE27B0-B8DC-2B44-BDD2-021238603A31}" type="sibTrans" cxnId="{E7FF8EBB-D223-BA41-904A-2680EB5793AC}">
      <dgm:prSet/>
      <dgm:spPr/>
      <dgm:t>
        <a:bodyPr/>
        <a:lstStyle/>
        <a:p>
          <a:endParaRPr lang="it-IT"/>
        </a:p>
      </dgm:t>
    </dgm:pt>
    <dgm:pt modelId="{F8EA7E9F-8B3D-044A-8207-A006C77C6021}">
      <dgm:prSet/>
      <dgm:spPr/>
      <dgm:t>
        <a:bodyPr/>
        <a:lstStyle/>
        <a:p>
          <a:r>
            <a:rPr lang="en-US" b="1"/>
            <a:t>Kinematics derived according to Denavit-Hartenberg convention</a:t>
          </a:r>
          <a:endParaRPr lang="it-IT"/>
        </a:p>
      </dgm:t>
    </dgm:pt>
    <dgm:pt modelId="{1FC76FB6-8C7C-0048-9B0B-3BF42ABC602E}" type="parTrans" cxnId="{AB032E71-2563-3C4D-B931-F8395F52AF35}">
      <dgm:prSet/>
      <dgm:spPr/>
      <dgm:t>
        <a:bodyPr/>
        <a:lstStyle/>
        <a:p>
          <a:endParaRPr lang="it-IT"/>
        </a:p>
      </dgm:t>
    </dgm:pt>
    <dgm:pt modelId="{49A3B50D-84CD-E44A-ACA7-56B19F7457F3}" type="sibTrans" cxnId="{AB032E71-2563-3C4D-B931-F8395F52AF35}">
      <dgm:prSet/>
      <dgm:spPr/>
      <dgm:t>
        <a:bodyPr/>
        <a:lstStyle/>
        <a:p>
          <a:endParaRPr lang="it-IT"/>
        </a:p>
      </dgm:t>
    </dgm:pt>
    <dgm:pt modelId="{93295C3C-CC44-864A-B7DC-79B6586D897D}">
      <dgm:prSet/>
      <dgm:spPr/>
      <dgm:t>
        <a:bodyPr/>
        <a:lstStyle/>
        <a:p>
          <a:r>
            <a:rPr lang="en-US" b="1"/>
            <a:t>Actuation performed using Harmonic Drives</a:t>
          </a:r>
          <a:endParaRPr lang="it-IT"/>
        </a:p>
      </dgm:t>
    </dgm:pt>
    <dgm:pt modelId="{BD528864-3639-EB49-8942-67D96E35DEBD}" type="parTrans" cxnId="{A9C62A52-281C-4641-AF3B-EA1C66E21160}">
      <dgm:prSet/>
      <dgm:spPr/>
      <dgm:t>
        <a:bodyPr/>
        <a:lstStyle/>
        <a:p>
          <a:endParaRPr lang="it-IT"/>
        </a:p>
      </dgm:t>
    </dgm:pt>
    <dgm:pt modelId="{27415A8A-EC03-EB4F-9C9D-0EA686D8142F}" type="sibTrans" cxnId="{A9C62A52-281C-4641-AF3B-EA1C66E21160}">
      <dgm:prSet/>
      <dgm:spPr/>
      <dgm:t>
        <a:bodyPr/>
        <a:lstStyle/>
        <a:p>
          <a:endParaRPr lang="it-IT"/>
        </a:p>
      </dgm:t>
    </dgm:pt>
    <dgm:pt modelId="{6C860BD8-38A2-EC48-8538-6F0C8A10408F}" type="pres">
      <dgm:prSet presAssocID="{9EAD6CDF-3F9D-9C47-ACDB-AF25D896ADBF}" presName="linear" presStyleCnt="0">
        <dgm:presLayoutVars>
          <dgm:animLvl val="lvl"/>
          <dgm:resizeHandles val="exact"/>
        </dgm:presLayoutVars>
      </dgm:prSet>
      <dgm:spPr/>
    </dgm:pt>
    <dgm:pt modelId="{398E5A3E-4CE2-7A4E-A651-CCB8F49A2179}" type="pres">
      <dgm:prSet presAssocID="{AA2B8F0E-AA00-C245-B005-36189CC368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FCDD66-09BA-C84F-9320-07369873FB21}" type="pres">
      <dgm:prSet presAssocID="{562B049A-9C38-8847-89DC-4067D39D9A49}" presName="spacer" presStyleCnt="0"/>
      <dgm:spPr/>
    </dgm:pt>
    <dgm:pt modelId="{64918689-E426-AE44-A99B-59C181DF5FA6}" type="pres">
      <dgm:prSet presAssocID="{09797F2C-1576-5540-8AC1-D435A89B90E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A96268-DEFC-7844-BBD5-3AE0975DABF7}" type="pres">
      <dgm:prSet presAssocID="{D8FE27B0-B8DC-2B44-BDD2-021238603A31}" presName="spacer" presStyleCnt="0"/>
      <dgm:spPr/>
    </dgm:pt>
    <dgm:pt modelId="{25C42885-FF7D-4F46-AA02-030D09C30504}" type="pres">
      <dgm:prSet presAssocID="{F8EA7E9F-8B3D-044A-8207-A006C77C60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67A6D9-E6A4-E44C-8A2F-CD09380CDBD2}" type="pres">
      <dgm:prSet presAssocID="{49A3B50D-84CD-E44A-ACA7-56B19F7457F3}" presName="spacer" presStyleCnt="0"/>
      <dgm:spPr/>
    </dgm:pt>
    <dgm:pt modelId="{2C997D35-325F-E14B-8DFD-750CBD438305}" type="pres">
      <dgm:prSet presAssocID="{93295C3C-CC44-864A-B7DC-79B6586D89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1ABB0F-5741-7A44-B53D-724EB0ADF24F}" type="presOf" srcId="{AA2B8F0E-AA00-C245-B005-36189CC36803}" destId="{398E5A3E-4CE2-7A4E-A651-CCB8F49A2179}" srcOrd="0" destOrd="0" presId="urn:microsoft.com/office/officeart/2005/8/layout/vList2"/>
    <dgm:cxn modelId="{AB032E71-2563-3C4D-B931-F8395F52AF35}" srcId="{9EAD6CDF-3F9D-9C47-ACDB-AF25D896ADBF}" destId="{F8EA7E9F-8B3D-044A-8207-A006C77C6021}" srcOrd="2" destOrd="0" parTransId="{1FC76FB6-8C7C-0048-9B0B-3BF42ABC602E}" sibTransId="{49A3B50D-84CD-E44A-ACA7-56B19F7457F3}"/>
    <dgm:cxn modelId="{A9C62A52-281C-4641-AF3B-EA1C66E21160}" srcId="{9EAD6CDF-3F9D-9C47-ACDB-AF25D896ADBF}" destId="{93295C3C-CC44-864A-B7DC-79B6586D897D}" srcOrd="3" destOrd="0" parTransId="{BD528864-3639-EB49-8942-67D96E35DEBD}" sibTransId="{27415A8A-EC03-EB4F-9C9D-0EA686D8142F}"/>
    <dgm:cxn modelId="{2F2D7673-6B5C-6E46-AF57-CEEE54A25377}" type="presOf" srcId="{93295C3C-CC44-864A-B7DC-79B6586D897D}" destId="{2C997D35-325F-E14B-8DFD-750CBD438305}" srcOrd="0" destOrd="0" presId="urn:microsoft.com/office/officeart/2005/8/layout/vList2"/>
    <dgm:cxn modelId="{2E02227F-0503-F445-868D-5D6393B93793}" type="presOf" srcId="{09797F2C-1576-5540-8AC1-D435A89B90EA}" destId="{64918689-E426-AE44-A99B-59C181DF5FA6}" srcOrd="0" destOrd="0" presId="urn:microsoft.com/office/officeart/2005/8/layout/vList2"/>
    <dgm:cxn modelId="{726C7B84-F5F3-1D4F-8E31-731386AB3F10}" type="presOf" srcId="{9EAD6CDF-3F9D-9C47-ACDB-AF25D896ADBF}" destId="{6C860BD8-38A2-EC48-8538-6F0C8A10408F}" srcOrd="0" destOrd="0" presId="urn:microsoft.com/office/officeart/2005/8/layout/vList2"/>
    <dgm:cxn modelId="{7D87B291-BF54-6445-8851-93948CE53F09}" srcId="{9EAD6CDF-3F9D-9C47-ACDB-AF25D896ADBF}" destId="{AA2B8F0E-AA00-C245-B005-36189CC36803}" srcOrd="0" destOrd="0" parTransId="{169449F2-F068-934E-9851-34EAFD678AA1}" sibTransId="{562B049A-9C38-8847-89DC-4067D39D9A49}"/>
    <dgm:cxn modelId="{E7FF8EBB-D223-BA41-904A-2680EB5793AC}" srcId="{9EAD6CDF-3F9D-9C47-ACDB-AF25D896ADBF}" destId="{09797F2C-1576-5540-8AC1-D435A89B90EA}" srcOrd="1" destOrd="0" parTransId="{E57D4F7E-9A36-4845-B883-F8A514B00590}" sibTransId="{D8FE27B0-B8DC-2B44-BDD2-021238603A31}"/>
    <dgm:cxn modelId="{723B61CF-C1DB-E04F-9CF3-9B79CECAAB3B}" type="presOf" srcId="{F8EA7E9F-8B3D-044A-8207-A006C77C6021}" destId="{25C42885-FF7D-4F46-AA02-030D09C30504}" srcOrd="0" destOrd="0" presId="urn:microsoft.com/office/officeart/2005/8/layout/vList2"/>
    <dgm:cxn modelId="{68254A7D-05A0-C047-9C79-9007A1C9513D}" type="presParOf" srcId="{6C860BD8-38A2-EC48-8538-6F0C8A10408F}" destId="{398E5A3E-4CE2-7A4E-A651-CCB8F49A2179}" srcOrd="0" destOrd="0" presId="urn:microsoft.com/office/officeart/2005/8/layout/vList2"/>
    <dgm:cxn modelId="{4CA4A60B-71F6-9B4F-8853-C5C2E312DECA}" type="presParOf" srcId="{6C860BD8-38A2-EC48-8538-6F0C8A10408F}" destId="{FCFCDD66-09BA-C84F-9320-07369873FB21}" srcOrd="1" destOrd="0" presId="urn:microsoft.com/office/officeart/2005/8/layout/vList2"/>
    <dgm:cxn modelId="{DA45280A-34C8-774F-9273-B01CEDCE9839}" type="presParOf" srcId="{6C860BD8-38A2-EC48-8538-6F0C8A10408F}" destId="{64918689-E426-AE44-A99B-59C181DF5FA6}" srcOrd="2" destOrd="0" presId="urn:microsoft.com/office/officeart/2005/8/layout/vList2"/>
    <dgm:cxn modelId="{E1868F1D-AB99-774C-8EF3-4EE2A5C3B0E4}" type="presParOf" srcId="{6C860BD8-38A2-EC48-8538-6F0C8A10408F}" destId="{D7A96268-DEFC-7844-BBD5-3AE0975DABF7}" srcOrd="3" destOrd="0" presId="urn:microsoft.com/office/officeart/2005/8/layout/vList2"/>
    <dgm:cxn modelId="{43BF53F3-AD3F-2F47-9C65-E0ADD73FC729}" type="presParOf" srcId="{6C860BD8-38A2-EC48-8538-6F0C8A10408F}" destId="{25C42885-FF7D-4F46-AA02-030D09C30504}" srcOrd="4" destOrd="0" presId="urn:microsoft.com/office/officeart/2005/8/layout/vList2"/>
    <dgm:cxn modelId="{1B460BAA-D653-F045-8F4E-BC79A939C281}" type="presParOf" srcId="{6C860BD8-38A2-EC48-8538-6F0C8A10408F}" destId="{5667A6D9-E6A4-E44C-8A2F-CD09380CDBD2}" srcOrd="5" destOrd="0" presId="urn:microsoft.com/office/officeart/2005/8/layout/vList2"/>
    <dgm:cxn modelId="{54A63501-646B-9D43-B93C-62AC8F003801}" type="presParOf" srcId="{6C860BD8-38A2-EC48-8538-6F0C8A10408F}" destId="{2C997D35-325F-E14B-8DFD-750CBD4383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EE294E-AB3E-4BF5-BF52-E68D882FE931}" type="doc">
      <dgm:prSet loTypeId="urn:microsoft.com/office/officeart/2005/8/layout/vList5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D0A2EDF-BE01-4F86-B6F8-FE8ADF3E86B8}">
      <dgm:prSet/>
      <dgm:spPr/>
      <dgm:t>
        <a:bodyPr/>
        <a:lstStyle/>
        <a:p>
          <a:r>
            <a:rPr lang="it-IT"/>
            <a:t>a </a:t>
          </a:r>
          <a:r>
            <a:rPr lang="it-IT" b="1"/>
            <a:t>flexspline</a:t>
          </a:r>
          <a:r>
            <a:rPr lang="it-IT"/>
            <a:t>, a flexible gear with internal teeth</a:t>
          </a:r>
          <a:endParaRPr lang="en-US"/>
        </a:p>
      </dgm:t>
    </dgm:pt>
    <dgm:pt modelId="{BD0DEBE3-B759-47A9-85C2-F46512A147DC}" type="parTrans" cxnId="{8A5B2BD5-0F44-4D68-A63E-1ECE258A9F33}">
      <dgm:prSet/>
      <dgm:spPr/>
      <dgm:t>
        <a:bodyPr/>
        <a:lstStyle/>
        <a:p>
          <a:endParaRPr lang="en-US"/>
        </a:p>
      </dgm:t>
    </dgm:pt>
    <dgm:pt modelId="{08CD951C-441E-499C-8731-0C828A8571F7}" type="sibTrans" cxnId="{8A5B2BD5-0F44-4D68-A63E-1ECE258A9F33}">
      <dgm:prSet/>
      <dgm:spPr/>
      <dgm:t>
        <a:bodyPr/>
        <a:lstStyle/>
        <a:p>
          <a:endParaRPr lang="en-US"/>
        </a:p>
      </dgm:t>
    </dgm:pt>
    <dgm:pt modelId="{22EA36DC-B50F-4A5A-B4BD-7C2CFC20D5BA}">
      <dgm:prSet/>
      <dgm:spPr/>
      <dgm:t>
        <a:bodyPr/>
        <a:lstStyle/>
        <a:p>
          <a:r>
            <a:rPr lang="it-IT"/>
            <a:t>a </a:t>
          </a:r>
          <a:r>
            <a:rPr lang="it-IT" b="1"/>
            <a:t>wave generator</a:t>
          </a:r>
          <a:r>
            <a:rPr lang="it-IT"/>
            <a:t>, an elliptical plug that deforms the flexspline as it rotates</a:t>
          </a:r>
          <a:endParaRPr lang="en-US"/>
        </a:p>
      </dgm:t>
    </dgm:pt>
    <dgm:pt modelId="{105A1CEF-E9EB-4EC0-AFC6-42AF11EA91BA}" type="parTrans" cxnId="{F326702D-E2D8-4481-9533-EB9F5392B2CB}">
      <dgm:prSet/>
      <dgm:spPr/>
      <dgm:t>
        <a:bodyPr/>
        <a:lstStyle/>
        <a:p>
          <a:endParaRPr lang="en-US"/>
        </a:p>
      </dgm:t>
    </dgm:pt>
    <dgm:pt modelId="{8F526349-436D-4318-A8EC-B6CF5269CCCA}" type="sibTrans" cxnId="{F326702D-E2D8-4481-9533-EB9F5392B2CB}">
      <dgm:prSet/>
      <dgm:spPr/>
      <dgm:t>
        <a:bodyPr/>
        <a:lstStyle/>
        <a:p>
          <a:endParaRPr lang="en-US"/>
        </a:p>
      </dgm:t>
    </dgm:pt>
    <dgm:pt modelId="{1891D44E-4BD4-4706-83F9-8CA4479A8B68}">
      <dgm:prSet/>
      <dgm:spPr/>
      <dgm:t>
        <a:bodyPr/>
        <a:lstStyle/>
        <a:p>
          <a:r>
            <a:rPr lang="it-IT"/>
            <a:t>a </a:t>
          </a:r>
          <a:r>
            <a:rPr lang="it-IT" b="1"/>
            <a:t>circular spline</a:t>
          </a:r>
          <a:r>
            <a:rPr lang="it-IT"/>
            <a:t>, a rigid gear with external teeth</a:t>
          </a:r>
          <a:endParaRPr lang="en-US"/>
        </a:p>
      </dgm:t>
    </dgm:pt>
    <dgm:pt modelId="{948E283C-6199-425E-B971-803DF492976E}" type="parTrans" cxnId="{CCE62DFC-B419-4F3D-A3EE-624F42D3EAB5}">
      <dgm:prSet/>
      <dgm:spPr/>
      <dgm:t>
        <a:bodyPr/>
        <a:lstStyle/>
        <a:p>
          <a:endParaRPr lang="en-US"/>
        </a:p>
      </dgm:t>
    </dgm:pt>
    <dgm:pt modelId="{29EDB50F-7DA2-494D-86D3-6415B2AF6910}" type="sibTrans" cxnId="{CCE62DFC-B419-4F3D-A3EE-624F42D3EAB5}">
      <dgm:prSet/>
      <dgm:spPr/>
      <dgm:t>
        <a:bodyPr/>
        <a:lstStyle/>
        <a:p>
          <a:endParaRPr lang="en-US"/>
        </a:p>
      </dgm:t>
    </dgm:pt>
    <dgm:pt modelId="{EF3DE30A-0A12-49E1-9FBD-DCE3E0234B9A}">
      <dgm:prSet/>
      <dgm:spPr/>
      <dgm:t>
        <a:bodyPr/>
        <a:lstStyle/>
        <a:p>
          <a:r>
            <a:rPr lang="it-IT" b="1"/>
            <a:t>reduction of angular velocity</a:t>
          </a:r>
          <a:r>
            <a:rPr lang="it-IT"/>
            <a:t> at the output</a:t>
          </a:r>
          <a:endParaRPr lang="en-US"/>
        </a:p>
      </dgm:t>
    </dgm:pt>
    <dgm:pt modelId="{4DC57C20-FAFB-4F83-87C9-86592A9843EB}" type="parTrans" cxnId="{7A7AE83B-BBF7-41CF-8FD1-740BDF9F3303}">
      <dgm:prSet/>
      <dgm:spPr/>
      <dgm:t>
        <a:bodyPr/>
        <a:lstStyle/>
        <a:p>
          <a:endParaRPr lang="en-US"/>
        </a:p>
      </dgm:t>
    </dgm:pt>
    <dgm:pt modelId="{67112880-654B-4AE2-B730-67A05BDAF5D2}" type="sibTrans" cxnId="{7A7AE83B-BBF7-41CF-8FD1-740BDF9F3303}">
      <dgm:prSet/>
      <dgm:spPr/>
      <dgm:t>
        <a:bodyPr/>
        <a:lstStyle/>
        <a:p>
          <a:endParaRPr lang="en-US"/>
        </a:p>
      </dgm:t>
    </dgm:pt>
    <dgm:pt modelId="{C4EB72BD-A030-408B-AAD2-A6324C0A4D33}">
      <dgm:prSet/>
      <dgm:spPr/>
      <dgm:t>
        <a:bodyPr/>
        <a:lstStyle/>
        <a:p>
          <a:r>
            <a:rPr lang="it-IT" b="1" dirty="0" err="1"/>
            <a:t>increase</a:t>
          </a:r>
          <a:r>
            <a:rPr lang="it-IT" b="1" dirty="0"/>
            <a:t> of </a:t>
          </a:r>
          <a:r>
            <a:rPr lang="it-IT" b="1" dirty="0" err="1"/>
            <a:t>transmitted</a:t>
          </a:r>
          <a:r>
            <a:rPr lang="it-IT" b="1" dirty="0"/>
            <a:t> torque</a:t>
          </a:r>
          <a:endParaRPr lang="en-US" dirty="0"/>
        </a:p>
      </dgm:t>
    </dgm:pt>
    <dgm:pt modelId="{1F83DDA9-473A-4B37-873E-7FD32C924746}" type="parTrans" cxnId="{D3A6E409-73FB-4DFF-AEC5-1F8807F4C6FE}">
      <dgm:prSet/>
      <dgm:spPr/>
      <dgm:t>
        <a:bodyPr/>
        <a:lstStyle/>
        <a:p>
          <a:endParaRPr lang="en-US"/>
        </a:p>
      </dgm:t>
    </dgm:pt>
    <dgm:pt modelId="{4D5E264C-9D05-4750-AB9F-69CBB66EE0B3}" type="sibTrans" cxnId="{D3A6E409-73FB-4DFF-AEC5-1F8807F4C6FE}">
      <dgm:prSet/>
      <dgm:spPr/>
      <dgm:t>
        <a:bodyPr/>
        <a:lstStyle/>
        <a:p>
          <a:endParaRPr lang="en-US"/>
        </a:p>
      </dgm:t>
    </dgm:pt>
    <dgm:pt modelId="{D04EFC6D-296B-4550-98E6-C86982EEFCBF}">
      <dgm:prSet/>
      <dgm:spPr/>
      <dgm:t>
        <a:bodyPr/>
        <a:lstStyle/>
        <a:p>
          <a:r>
            <a:rPr lang="it-IT"/>
            <a:t>a </a:t>
          </a:r>
          <a:r>
            <a:rPr lang="it-IT" b="1"/>
            <a:t>non-linear spring</a:t>
          </a:r>
          <a:r>
            <a:rPr lang="it-IT"/>
            <a:t> (elasticity of the flexspline)</a:t>
          </a:r>
          <a:endParaRPr lang="en-US"/>
        </a:p>
      </dgm:t>
    </dgm:pt>
    <dgm:pt modelId="{663AE582-182C-4B8D-BAB7-F6D80DEF9D41}" type="parTrans" cxnId="{4968EF24-9E79-4091-BC36-DCC242B7A6D4}">
      <dgm:prSet/>
      <dgm:spPr/>
      <dgm:t>
        <a:bodyPr/>
        <a:lstStyle/>
        <a:p>
          <a:endParaRPr lang="en-US"/>
        </a:p>
      </dgm:t>
    </dgm:pt>
    <dgm:pt modelId="{5E5ED623-DC43-4B27-92AC-5523729542D6}" type="sibTrans" cxnId="{4968EF24-9E79-4091-BC36-DCC242B7A6D4}">
      <dgm:prSet/>
      <dgm:spPr/>
      <dgm:t>
        <a:bodyPr/>
        <a:lstStyle/>
        <a:p>
          <a:endParaRPr lang="en-US"/>
        </a:p>
      </dgm:t>
    </dgm:pt>
    <dgm:pt modelId="{CF6CA050-CBEB-435C-8ED6-5930BECB53BB}">
      <dgm:prSet/>
      <dgm:spPr/>
      <dgm:t>
        <a:bodyPr/>
        <a:lstStyle/>
        <a:p>
          <a:r>
            <a:rPr lang="it-IT"/>
            <a:t>two </a:t>
          </a:r>
          <a:r>
            <a:rPr lang="it-IT" b="1"/>
            <a:t>bearings</a:t>
          </a:r>
          <a:r>
            <a:rPr lang="it-IT"/>
            <a:t> (supporting the wave generator)</a:t>
          </a:r>
          <a:endParaRPr lang="en-US"/>
        </a:p>
      </dgm:t>
    </dgm:pt>
    <dgm:pt modelId="{6ADE55A3-99B5-41C5-A2AA-AA4CC75D9F8C}" type="parTrans" cxnId="{56D6018A-8317-4AB9-A02D-68777A7EF499}">
      <dgm:prSet/>
      <dgm:spPr/>
      <dgm:t>
        <a:bodyPr/>
        <a:lstStyle/>
        <a:p>
          <a:endParaRPr lang="en-US"/>
        </a:p>
      </dgm:t>
    </dgm:pt>
    <dgm:pt modelId="{36C0348F-72BF-4AB5-8307-A9CD0854EE52}" type="sibTrans" cxnId="{56D6018A-8317-4AB9-A02D-68777A7EF499}">
      <dgm:prSet/>
      <dgm:spPr/>
      <dgm:t>
        <a:bodyPr/>
        <a:lstStyle/>
        <a:p>
          <a:endParaRPr lang="en-US"/>
        </a:p>
      </dgm:t>
    </dgm:pt>
    <dgm:pt modelId="{3CEE8ACF-6544-4F9B-AF38-94E0583AC4D5}">
      <dgm:prSet/>
      <dgm:spPr/>
      <dgm:t>
        <a:bodyPr/>
        <a:lstStyle/>
        <a:p>
          <a:r>
            <a:rPr lang="it-IT" dirty="0"/>
            <a:t>and the </a:t>
          </a:r>
          <a:r>
            <a:rPr lang="it-IT" b="1" dirty="0" err="1"/>
            <a:t>inertia</a:t>
          </a:r>
          <a:r>
            <a:rPr lang="it-IT" dirty="0"/>
            <a:t> of </a:t>
          </a:r>
          <a:r>
            <a:rPr lang="it-IT" dirty="0" err="1"/>
            <a:t>moving</a:t>
          </a:r>
          <a:r>
            <a:rPr lang="it-IT" dirty="0"/>
            <a:t> parts.</a:t>
          </a:r>
          <a:endParaRPr lang="en-US" dirty="0"/>
        </a:p>
      </dgm:t>
    </dgm:pt>
    <dgm:pt modelId="{1A05EAAD-E1A6-4EEA-BAB0-FE1835617246}" type="parTrans" cxnId="{02C564BD-0DC9-4C9E-B276-826C977A9F93}">
      <dgm:prSet/>
      <dgm:spPr/>
      <dgm:t>
        <a:bodyPr/>
        <a:lstStyle/>
        <a:p>
          <a:endParaRPr lang="en-US"/>
        </a:p>
      </dgm:t>
    </dgm:pt>
    <dgm:pt modelId="{EF04F5B1-FC0B-44B6-AE73-DA699AC694A0}" type="sibTrans" cxnId="{02C564BD-0DC9-4C9E-B276-826C977A9F93}">
      <dgm:prSet/>
      <dgm:spPr/>
      <dgm:t>
        <a:bodyPr/>
        <a:lstStyle/>
        <a:p>
          <a:endParaRPr lang="en-US"/>
        </a:p>
      </dgm:t>
    </dgm:pt>
    <dgm:pt modelId="{406DCF43-B6D4-483D-88FD-6FE1F93C3B0C}">
      <dgm:prSet/>
      <dgm:spPr/>
      <dgm:t>
        <a:bodyPr/>
        <a:lstStyle/>
        <a:p>
          <a:r>
            <a:rPr lang="it-IT" dirty="0"/>
            <a:t>The </a:t>
          </a:r>
          <a:r>
            <a:rPr lang="it-IT" dirty="0" err="1"/>
            <a:t>mechanical</a:t>
          </a:r>
          <a:r>
            <a:rPr lang="it-IT" dirty="0"/>
            <a:t> </a:t>
          </a:r>
          <a:r>
            <a:rPr lang="it-IT" dirty="0" err="1"/>
            <a:t>behavior</a:t>
          </a:r>
          <a:r>
            <a:rPr lang="it-IT" dirty="0"/>
            <a:t> can be </a:t>
          </a:r>
          <a:r>
            <a:rPr lang="it-IT" dirty="0" err="1"/>
            <a:t>modeled</a:t>
          </a:r>
          <a:r>
            <a:rPr lang="it-IT" dirty="0"/>
            <a:t> with:</a:t>
          </a:r>
          <a:endParaRPr lang="en-US" dirty="0"/>
        </a:p>
      </dgm:t>
    </dgm:pt>
    <dgm:pt modelId="{7926EFBB-CB1C-45C0-B59E-F40C98C56D5E}" type="sibTrans" cxnId="{B75DF565-5A66-4FA8-BBA4-652CB913B96C}">
      <dgm:prSet/>
      <dgm:spPr/>
      <dgm:t>
        <a:bodyPr/>
        <a:lstStyle/>
        <a:p>
          <a:endParaRPr lang="en-US"/>
        </a:p>
      </dgm:t>
    </dgm:pt>
    <dgm:pt modelId="{E5AF282B-5FA4-45CD-91F9-89CD1F138AF7}" type="parTrans" cxnId="{B75DF565-5A66-4FA8-BBA4-652CB913B96C}">
      <dgm:prSet/>
      <dgm:spPr/>
      <dgm:t>
        <a:bodyPr/>
        <a:lstStyle/>
        <a:p>
          <a:endParaRPr lang="en-US"/>
        </a:p>
      </dgm:t>
    </dgm:pt>
    <dgm:pt modelId="{3C302961-8611-4B7A-B5F3-AEF8271E66F2}">
      <dgm:prSet/>
      <dgm:spPr/>
      <dgm:t>
        <a:bodyPr/>
        <a:lstStyle/>
        <a:p>
          <a:r>
            <a:rPr lang="it-IT" b="1" dirty="0"/>
            <a:t>The </a:t>
          </a:r>
          <a:r>
            <a:rPr lang="it-IT" b="1" dirty="0" err="1"/>
            <a:t>controlled</a:t>
          </a:r>
          <a:r>
            <a:rPr lang="it-IT" b="1" dirty="0"/>
            <a:t> </a:t>
          </a:r>
          <a:r>
            <a:rPr lang="it-IT" b="1" dirty="0" err="1"/>
            <a:t>deformation</a:t>
          </a:r>
          <a:r>
            <a:rPr lang="it-IT" b="1" dirty="0"/>
            <a:t> of the </a:t>
          </a:r>
          <a:r>
            <a:rPr lang="it-IT" b="1" dirty="0" err="1"/>
            <a:t>flexspline</a:t>
          </a:r>
          <a:r>
            <a:rPr lang="it-IT" b="1" dirty="0"/>
            <a:t> </a:t>
          </a:r>
          <a:r>
            <a:rPr lang="it-IT" b="1" dirty="0" err="1"/>
            <a:t>allows</a:t>
          </a:r>
          <a:r>
            <a:rPr lang="it-IT" dirty="0"/>
            <a:t>:</a:t>
          </a:r>
          <a:endParaRPr lang="en-US" dirty="0"/>
        </a:p>
      </dgm:t>
    </dgm:pt>
    <dgm:pt modelId="{7D8DB24E-CEEC-4C43-8FEF-24892B85E212}" type="sibTrans" cxnId="{F95E8ED3-E6D3-4B41-99A0-199027EA4F98}">
      <dgm:prSet/>
      <dgm:spPr/>
      <dgm:t>
        <a:bodyPr/>
        <a:lstStyle/>
        <a:p>
          <a:endParaRPr lang="en-US"/>
        </a:p>
      </dgm:t>
    </dgm:pt>
    <dgm:pt modelId="{44853987-5DC0-448D-B01C-25232A659D25}" type="parTrans" cxnId="{F95E8ED3-E6D3-4B41-99A0-199027EA4F98}">
      <dgm:prSet/>
      <dgm:spPr/>
      <dgm:t>
        <a:bodyPr/>
        <a:lstStyle/>
        <a:p>
          <a:endParaRPr lang="en-US"/>
        </a:p>
      </dgm:t>
    </dgm:pt>
    <dgm:pt modelId="{75E4597C-F71A-4680-B052-A1D7319D7943}">
      <dgm:prSet/>
      <dgm:spPr/>
      <dgm:t>
        <a:bodyPr/>
        <a:lstStyle/>
        <a:p>
          <a:r>
            <a:rPr lang="it-IT" b="1" dirty="0"/>
            <a:t>A </a:t>
          </a:r>
          <a:r>
            <a:rPr lang="it-IT" b="1" dirty="0" err="1"/>
            <a:t>gear</a:t>
          </a:r>
          <a:r>
            <a:rPr lang="it-IT" b="1" dirty="0"/>
            <a:t> system </a:t>
          </a:r>
          <a:r>
            <a:rPr lang="it-IT" b="1" dirty="0" err="1"/>
            <a:t>consisting</a:t>
          </a:r>
          <a:r>
            <a:rPr lang="it-IT" b="1" dirty="0"/>
            <a:t> of</a:t>
          </a:r>
          <a:r>
            <a:rPr lang="it-IT" dirty="0"/>
            <a:t>:</a:t>
          </a:r>
          <a:endParaRPr lang="en-US" dirty="0"/>
        </a:p>
      </dgm:t>
    </dgm:pt>
    <dgm:pt modelId="{EE896F94-5937-4F2E-9DD4-723324BF02BB}" type="sibTrans" cxnId="{B26B46B9-DDBD-4165-837D-DAAEE4607938}">
      <dgm:prSet/>
      <dgm:spPr/>
      <dgm:t>
        <a:bodyPr/>
        <a:lstStyle/>
        <a:p>
          <a:endParaRPr lang="en-US"/>
        </a:p>
      </dgm:t>
    </dgm:pt>
    <dgm:pt modelId="{3009606A-3866-465E-9242-6953465BDC81}" type="parTrans" cxnId="{B26B46B9-DDBD-4165-837D-DAAEE4607938}">
      <dgm:prSet/>
      <dgm:spPr/>
      <dgm:t>
        <a:bodyPr/>
        <a:lstStyle/>
        <a:p>
          <a:endParaRPr lang="en-US"/>
        </a:p>
      </dgm:t>
    </dgm:pt>
    <dgm:pt modelId="{E37CB4C3-2B3A-0447-8752-79EC90EFDCD2}" type="pres">
      <dgm:prSet presAssocID="{77EE294E-AB3E-4BF5-BF52-E68D882FE931}" presName="Name0" presStyleCnt="0">
        <dgm:presLayoutVars>
          <dgm:dir/>
          <dgm:animLvl val="lvl"/>
          <dgm:resizeHandles val="exact"/>
        </dgm:presLayoutVars>
      </dgm:prSet>
      <dgm:spPr/>
    </dgm:pt>
    <dgm:pt modelId="{1C6FA82C-7AC2-8143-B0FF-045922C6735A}" type="pres">
      <dgm:prSet presAssocID="{75E4597C-F71A-4680-B052-A1D7319D7943}" presName="linNode" presStyleCnt="0"/>
      <dgm:spPr/>
    </dgm:pt>
    <dgm:pt modelId="{5E7A6374-80C7-434E-B3BC-D2AAFA94D449}" type="pres">
      <dgm:prSet presAssocID="{75E4597C-F71A-4680-B052-A1D7319D794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0C70C2F-24D8-1C4A-B5AB-D63CC02645C3}" type="pres">
      <dgm:prSet presAssocID="{75E4597C-F71A-4680-B052-A1D7319D7943}" presName="descendantText" presStyleLbl="alignAccFollowNode1" presStyleIdx="0" presStyleCnt="3">
        <dgm:presLayoutVars>
          <dgm:bulletEnabled val="1"/>
        </dgm:presLayoutVars>
      </dgm:prSet>
      <dgm:spPr/>
    </dgm:pt>
    <dgm:pt modelId="{9F336B62-62D2-6B48-A41E-8766E7F766A8}" type="pres">
      <dgm:prSet presAssocID="{EE896F94-5937-4F2E-9DD4-723324BF02BB}" presName="sp" presStyleCnt="0"/>
      <dgm:spPr/>
    </dgm:pt>
    <dgm:pt modelId="{6FB9A36E-6B6B-F343-A5DF-14C8D048AFCD}" type="pres">
      <dgm:prSet presAssocID="{3C302961-8611-4B7A-B5F3-AEF8271E66F2}" presName="linNode" presStyleCnt="0"/>
      <dgm:spPr/>
    </dgm:pt>
    <dgm:pt modelId="{CE362482-6CE9-474B-97FB-94F890FA48EE}" type="pres">
      <dgm:prSet presAssocID="{3C302961-8611-4B7A-B5F3-AEF8271E66F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98FBF1E-0297-784D-B3F7-25905AE7ADE7}" type="pres">
      <dgm:prSet presAssocID="{3C302961-8611-4B7A-B5F3-AEF8271E66F2}" presName="descendantText" presStyleLbl="alignAccFollowNode1" presStyleIdx="1" presStyleCnt="3">
        <dgm:presLayoutVars>
          <dgm:bulletEnabled val="1"/>
        </dgm:presLayoutVars>
      </dgm:prSet>
      <dgm:spPr/>
    </dgm:pt>
    <dgm:pt modelId="{F837467A-894A-4D44-8100-7ADA881D22B9}" type="pres">
      <dgm:prSet presAssocID="{7D8DB24E-CEEC-4C43-8FEF-24892B85E212}" presName="sp" presStyleCnt="0"/>
      <dgm:spPr/>
    </dgm:pt>
    <dgm:pt modelId="{3E5D9B8E-85AC-024C-B03D-57AF1F90F92E}" type="pres">
      <dgm:prSet presAssocID="{406DCF43-B6D4-483D-88FD-6FE1F93C3B0C}" presName="linNode" presStyleCnt="0"/>
      <dgm:spPr/>
    </dgm:pt>
    <dgm:pt modelId="{7B1A6E26-0B08-064F-AB8A-6162D74BBEF2}" type="pres">
      <dgm:prSet presAssocID="{406DCF43-B6D4-483D-88FD-6FE1F93C3B0C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38B7F2E-BFD0-9843-A937-DC834E004CAD}" type="pres">
      <dgm:prSet presAssocID="{406DCF43-B6D4-483D-88FD-6FE1F93C3B0C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837AE04-DC8F-484B-A1EB-F454C48C5AF7}" type="presOf" srcId="{3CEE8ACF-6544-4F9B-AF38-94E0583AC4D5}" destId="{138B7F2E-BFD0-9843-A937-DC834E004CAD}" srcOrd="0" destOrd="2" presId="urn:microsoft.com/office/officeart/2005/8/layout/vList5"/>
    <dgm:cxn modelId="{D3A6E409-73FB-4DFF-AEC5-1F8807F4C6FE}" srcId="{3C302961-8611-4B7A-B5F3-AEF8271E66F2}" destId="{C4EB72BD-A030-408B-AAD2-A6324C0A4D33}" srcOrd="1" destOrd="0" parTransId="{1F83DDA9-473A-4B37-873E-7FD32C924746}" sibTransId="{4D5E264C-9D05-4750-AB9F-69CBB66EE0B3}"/>
    <dgm:cxn modelId="{6BECC613-0107-F34F-9922-7C6484B0E4BC}" type="presOf" srcId="{77EE294E-AB3E-4BF5-BF52-E68D882FE931}" destId="{E37CB4C3-2B3A-0447-8752-79EC90EFDCD2}" srcOrd="0" destOrd="0" presId="urn:microsoft.com/office/officeart/2005/8/layout/vList5"/>
    <dgm:cxn modelId="{4968EF24-9E79-4091-BC36-DCC242B7A6D4}" srcId="{406DCF43-B6D4-483D-88FD-6FE1F93C3B0C}" destId="{D04EFC6D-296B-4550-98E6-C86982EEFCBF}" srcOrd="0" destOrd="0" parTransId="{663AE582-182C-4B8D-BAB7-F6D80DEF9D41}" sibTransId="{5E5ED623-DC43-4B27-92AC-5523729542D6}"/>
    <dgm:cxn modelId="{8ECC332D-FF8E-324B-9124-3ADB8F791011}" type="presOf" srcId="{D04EFC6D-296B-4550-98E6-C86982EEFCBF}" destId="{138B7F2E-BFD0-9843-A937-DC834E004CAD}" srcOrd="0" destOrd="0" presId="urn:microsoft.com/office/officeart/2005/8/layout/vList5"/>
    <dgm:cxn modelId="{F326702D-E2D8-4481-9533-EB9F5392B2CB}" srcId="{75E4597C-F71A-4680-B052-A1D7319D7943}" destId="{22EA36DC-B50F-4A5A-B4BD-7C2CFC20D5BA}" srcOrd="1" destOrd="0" parTransId="{105A1CEF-E9EB-4EC0-AFC6-42AF11EA91BA}" sibTransId="{8F526349-436D-4318-A8EC-B6CF5269CCCA}"/>
    <dgm:cxn modelId="{7A7AE83B-BBF7-41CF-8FD1-740BDF9F3303}" srcId="{3C302961-8611-4B7A-B5F3-AEF8271E66F2}" destId="{EF3DE30A-0A12-49E1-9FBD-DCE3E0234B9A}" srcOrd="0" destOrd="0" parTransId="{4DC57C20-FAFB-4F83-87C9-86592A9843EB}" sibTransId="{67112880-654B-4AE2-B730-67A05BDAF5D2}"/>
    <dgm:cxn modelId="{0EC09245-0842-D44C-8C5C-10980E2FCDE2}" type="presOf" srcId="{2D0A2EDF-BE01-4F86-B6F8-FE8ADF3E86B8}" destId="{50C70C2F-24D8-1C4A-B5AB-D63CC02645C3}" srcOrd="0" destOrd="0" presId="urn:microsoft.com/office/officeart/2005/8/layout/vList5"/>
    <dgm:cxn modelId="{B75DF565-5A66-4FA8-BBA4-652CB913B96C}" srcId="{77EE294E-AB3E-4BF5-BF52-E68D882FE931}" destId="{406DCF43-B6D4-483D-88FD-6FE1F93C3B0C}" srcOrd="2" destOrd="0" parTransId="{E5AF282B-5FA4-45CD-91F9-89CD1F138AF7}" sibTransId="{7926EFBB-CB1C-45C0-B59E-F40C98C56D5E}"/>
    <dgm:cxn modelId="{0003DF78-93B6-8744-BB73-985203ADEF91}" type="presOf" srcId="{406DCF43-B6D4-483D-88FD-6FE1F93C3B0C}" destId="{7B1A6E26-0B08-064F-AB8A-6162D74BBEF2}" srcOrd="0" destOrd="0" presId="urn:microsoft.com/office/officeart/2005/8/layout/vList5"/>
    <dgm:cxn modelId="{9471D479-5E64-9043-94A2-3B175D7A5F30}" type="presOf" srcId="{3C302961-8611-4B7A-B5F3-AEF8271E66F2}" destId="{CE362482-6CE9-474B-97FB-94F890FA48EE}" srcOrd="0" destOrd="0" presId="urn:microsoft.com/office/officeart/2005/8/layout/vList5"/>
    <dgm:cxn modelId="{56D6018A-8317-4AB9-A02D-68777A7EF499}" srcId="{406DCF43-B6D4-483D-88FD-6FE1F93C3B0C}" destId="{CF6CA050-CBEB-435C-8ED6-5930BECB53BB}" srcOrd="1" destOrd="0" parTransId="{6ADE55A3-99B5-41C5-A2AA-AA4CC75D9F8C}" sibTransId="{36C0348F-72BF-4AB5-8307-A9CD0854EE52}"/>
    <dgm:cxn modelId="{A8F984B7-6A57-3A44-8D41-2029CCFAEA48}" type="presOf" srcId="{CF6CA050-CBEB-435C-8ED6-5930BECB53BB}" destId="{138B7F2E-BFD0-9843-A937-DC834E004CAD}" srcOrd="0" destOrd="1" presId="urn:microsoft.com/office/officeart/2005/8/layout/vList5"/>
    <dgm:cxn modelId="{B26B46B9-DDBD-4165-837D-DAAEE4607938}" srcId="{77EE294E-AB3E-4BF5-BF52-E68D882FE931}" destId="{75E4597C-F71A-4680-B052-A1D7319D7943}" srcOrd="0" destOrd="0" parTransId="{3009606A-3866-465E-9242-6953465BDC81}" sibTransId="{EE896F94-5937-4F2E-9DD4-723324BF02BB}"/>
    <dgm:cxn modelId="{02C564BD-0DC9-4C9E-B276-826C977A9F93}" srcId="{406DCF43-B6D4-483D-88FD-6FE1F93C3B0C}" destId="{3CEE8ACF-6544-4F9B-AF38-94E0583AC4D5}" srcOrd="2" destOrd="0" parTransId="{1A05EAAD-E1A6-4EEA-BAB0-FE1835617246}" sibTransId="{EF04F5B1-FC0B-44B6-AE73-DA699AC694A0}"/>
    <dgm:cxn modelId="{B56729CB-CC33-0046-93D1-95C3E9AEA169}" type="presOf" srcId="{1891D44E-4BD4-4706-83F9-8CA4479A8B68}" destId="{50C70C2F-24D8-1C4A-B5AB-D63CC02645C3}" srcOrd="0" destOrd="2" presId="urn:microsoft.com/office/officeart/2005/8/layout/vList5"/>
    <dgm:cxn modelId="{8AC88AD0-2BBB-F448-BF23-BCE1FC1BBB13}" type="presOf" srcId="{22EA36DC-B50F-4A5A-B4BD-7C2CFC20D5BA}" destId="{50C70C2F-24D8-1C4A-B5AB-D63CC02645C3}" srcOrd="0" destOrd="1" presId="urn:microsoft.com/office/officeart/2005/8/layout/vList5"/>
    <dgm:cxn modelId="{F95E8ED3-E6D3-4B41-99A0-199027EA4F98}" srcId="{77EE294E-AB3E-4BF5-BF52-E68D882FE931}" destId="{3C302961-8611-4B7A-B5F3-AEF8271E66F2}" srcOrd="1" destOrd="0" parTransId="{44853987-5DC0-448D-B01C-25232A659D25}" sibTransId="{7D8DB24E-CEEC-4C43-8FEF-24892B85E212}"/>
    <dgm:cxn modelId="{8A5B2BD5-0F44-4D68-A63E-1ECE258A9F33}" srcId="{75E4597C-F71A-4680-B052-A1D7319D7943}" destId="{2D0A2EDF-BE01-4F86-B6F8-FE8ADF3E86B8}" srcOrd="0" destOrd="0" parTransId="{BD0DEBE3-B759-47A9-85C2-F46512A147DC}" sibTransId="{08CD951C-441E-499C-8731-0C828A8571F7}"/>
    <dgm:cxn modelId="{60BD59E3-9AFE-4249-A18D-9FF0D873C293}" type="presOf" srcId="{75E4597C-F71A-4680-B052-A1D7319D7943}" destId="{5E7A6374-80C7-434E-B3BC-D2AAFA94D449}" srcOrd="0" destOrd="0" presId="urn:microsoft.com/office/officeart/2005/8/layout/vList5"/>
    <dgm:cxn modelId="{B8D63EEB-134C-E646-9E5E-87A86AF94B60}" type="presOf" srcId="{C4EB72BD-A030-408B-AAD2-A6324C0A4D33}" destId="{C98FBF1E-0297-784D-B3F7-25905AE7ADE7}" srcOrd="0" destOrd="1" presId="urn:microsoft.com/office/officeart/2005/8/layout/vList5"/>
    <dgm:cxn modelId="{CF0253F8-57E4-6C4D-85A5-246ED1EB59D1}" type="presOf" srcId="{EF3DE30A-0A12-49E1-9FBD-DCE3E0234B9A}" destId="{C98FBF1E-0297-784D-B3F7-25905AE7ADE7}" srcOrd="0" destOrd="0" presId="urn:microsoft.com/office/officeart/2005/8/layout/vList5"/>
    <dgm:cxn modelId="{CCE62DFC-B419-4F3D-A3EE-624F42D3EAB5}" srcId="{75E4597C-F71A-4680-B052-A1D7319D7943}" destId="{1891D44E-4BD4-4706-83F9-8CA4479A8B68}" srcOrd="2" destOrd="0" parTransId="{948E283C-6199-425E-B971-803DF492976E}" sibTransId="{29EDB50F-7DA2-494D-86D3-6415B2AF6910}"/>
    <dgm:cxn modelId="{1C5C45FC-5D18-6540-864F-68919E54F6FF}" type="presParOf" srcId="{E37CB4C3-2B3A-0447-8752-79EC90EFDCD2}" destId="{1C6FA82C-7AC2-8143-B0FF-045922C6735A}" srcOrd="0" destOrd="0" presId="urn:microsoft.com/office/officeart/2005/8/layout/vList5"/>
    <dgm:cxn modelId="{331BF1EB-7154-2540-920A-E01DF602C31F}" type="presParOf" srcId="{1C6FA82C-7AC2-8143-B0FF-045922C6735A}" destId="{5E7A6374-80C7-434E-B3BC-D2AAFA94D449}" srcOrd="0" destOrd="0" presId="urn:microsoft.com/office/officeart/2005/8/layout/vList5"/>
    <dgm:cxn modelId="{CD003A0F-2B43-3A4A-9A60-14F5F9B3493E}" type="presParOf" srcId="{1C6FA82C-7AC2-8143-B0FF-045922C6735A}" destId="{50C70C2F-24D8-1C4A-B5AB-D63CC02645C3}" srcOrd="1" destOrd="0" presId="urn:microsoft.com/office/officeart/2005/8/layout/vList5"/>
    <dgm:cxn modelId="{B2F41972-808C-534E-96FD-90B36C6D863C}" type="presParOf" srcId="{E37CB4C3-2B3A-0447-8752-79EC90EFDCD2}" destId="{9F336B62-62D2-6B48-A41E-8766E7F766A8}" srcOrd="1" destOrd="0" presId="urn:microsoft.com/office/officeart/2005/8/layout/vList5"/>
    <dgm:cxn modelId="{3EE25538-EAE6-EF40-86CB-3740A375BC8D}" type="presParOf" srcId="{E37CB4C3-2B3A-0447-8752-79EC90EFDCD2}" destId="{6FB9A36E-6B6B-F343-A5DF-14C8D048AFCD}" srcOrd="2" destOrd="0" presId="urn:microsoft.com/office/officeart/2005/8/layout/vList5"/>
    <dgm:cxn modelId="{51561FEF-B93D-5A4D-8E68-E74825635E8B}" type="presParOf" srcId="{6FB9A36E-6B6B-F343-A5DF-14C8D048AFCD}" destId="{CE362482-6CE9-474B-97FB-94F890FA48EE}" srcOrd="0" destOrd="0" presId="urn:microsoft.com/office/officeart/2005/8/layout/vList5"/>
    <dgm:cxn modelId="{222EE3C1-1F95-C949-B9D5-A3F0088BF439}" type="presParOf" srcId="{6FB9A36E-6B6B-F343-A5DF-14C8D048AFCD}" destId="{C98FBF1E-0297-784D-B3F7-25905AE7ADE7}" srcOrd="1" destOrd="0" presId="urn:microsoft.com/office/officeart/2005/8/layout/vList5"/>
    <dgm:cxn modelId="{7A5801BF-CC02-7149-A930-460E650D0E22}" type="presParOf" srcId="{E37CB4C3-2B3A-0447-8752-79EC90EFDCD2}" destId="{F837467A-894A-4D44-8100-7ADA881D22B9}" srcOrd="3" destOrd="0" presId="urn:microsoft.com/office/officeart/2005/8/layout/vList5"/>
    <dgm:cxn modelId="{15CF665E-DB95-BB4B-BB8F-E912DC67A5D4}" type="presParOf" srcId="{E37CB4C3-2B3A-0447-8752-79EC90EFDCD2}" destId="{3E5D9B8E-85AC-024C-B03D-57AF1F90F92E}" srcOrd="4" destOrd="0" presId="urn:microsoft.com/office/officeart/2005/8/layout/vList5"/>
    <dgm:cxn modelId="{F4DDF77B-79A9-9641-AFD8-0F112B800158}" type="presParOf" srcId="{3E5D9B8E-85AC-024C-B03D-57AF1F90F92E}" destId="{7B1A6E26-0B08-064F-AB8A-6162D74BBEF2}" srcOrd="0" destOrd="0" presId="urn:microsoft.com/office/officeart/2005/8/layout/vList5"/>
    <dgm:cxn modelId="{CA36EBD1-88C3-A84E-9A95-C87FC67D0443}" type="presParOf" srcId="{3E5D9B8E-85AC-024C-B03D-57AF1F90F92E}" destId="{138B7F2E-BFD0-9843-A937-DC834E004CA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37AB97-E2C1-EE4D-ACE1-C3CC55D042FF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it-IT"/>
        </a:p>
      </dgm:t>
    </dgm:pt>
    <dgm:pt modelId="{C1378822-4347-9043-8266-6DD659C74637}">
      <dgm:prSet/>
      <dgm:spPr/>
      <dgm:t>
        <a:bodyPr/>
        <a:lstStyle/>
        <a:p>
          <a:r>
            <a:rPr lang="it-IT" b="1"/>
            <a:t>Rotational joint aligned with the z-axis</a:t>
          </a:r>
          <a:r>
            <a:rPr lang="it-IT"/>
            <a:t>, designed to perform controlled rotational motion.</a:t>
          </a:r>
        </a:p>
      </dgm:t>
    </dgm:pt>
    <dgm:pt modelId="{E00FFEBD-7510-2344-B6F3-22197427B898}" type="parTrans" cxnId="{C013C297-CEE1-5B41-AD75-AD46AF77200D}">
      <dgm:prSet/>
      <dgm:spPr/>
      <dgm:t>
        <a:bodyPr/>
        <a:lstStyle/>
        <a:p>
          <a:endParaRPr lang="it-IT"/>
        </a:p>
      </dgm:t>
    </dgm:pt>
    <dgm:pt modelId="{35B7A9F9-8D32-624E-A49A-BD11AB4A7DA8}" type="sibTrans" cxnId="{C013C297-CEE1-5B41-AD75-AD46AF77200D}">
      <dgm:prSet/>
      <dgm:spPr/>
      <dgm:t>
        <a:bodyPr/>
        <a:lstStyle/>
        <a:p>
          <a:endParaRPr lang="it-IT"/>
        </a:p>
      </dgm:t>
    </dgm:pt>
    <dgm:pt modelId="{44DED582-EEEC-1B43-8924-D2C58525C6B7}">
      <dgm:prSet/>
      <dgm:spPr/>
      <dgm:t>
        <a:bodyPr/>
        <a:lstStyle/>
        <a:p>
          <a:r>
            <a:rPr lang="it-IT"/>
            <a:t>Actuation provided by the </a:t>
          </a:r>
          <a:r>
            <a:rPr lang="it-IT" b="1"/>
            <a:t>velocity input from the Harmonic Drive</a:t>
          </a:r>
          <a:r>
            <a:rPr lang="it-IT"/>
            <a:t>, ensuring high torque and precision.</a:t>
          </a:r>
        </a:p>
      </dgm:t>
    </dgm:pt>
    <dgm:pt modelId="{8B2DD034-2362-6849-813B-8C985FD569B3}" type="parTrans" cxnId="{CA453F71-4AE1-9D40-BFBA-85995289E6C4}">
      <dgm:prSet/>
      <dgm:spPr/>
      <dgm:t>
        <a:bodyPr/>
        <a:lstStyle/>
        <a:p>
          <a:endParaRPr lang="it-IT"/>
        </a:p>
      </dgm:t>
    </dgm:pt>
    <dgm:pt modelId="{408ADB3F-F1B6-284F-9B24-4895099682E1}" type="sibTrans" cxnId="{CA453F71-4AE1-9D40-BFBA-85995289E6C4}">
      <dgm:prSet/>
      <dgm:spPr/>
      <dgm:t>
        <a:bodyPr/>
        <a:lstStyle/>
        <a:p>
          <a:endParaRPr lang="it-IT"/>
        </a:p>
      </dgm:t>
    </dgm:pt>
    <dgm:pt modelId="{CE1CC775-F77A-B64E-B9F5-801120947847}">
      <dgm:prSet/>
      <dgm:spPr/>
      <dgm:t>
        <a:bodyPr/>
        <a:lstStyle/>
        <a:p>
          <a:r>
            <a:rPr lang="it-IT"/>
            <a:t>A </a:t>
          </a:r>
          <a:r>
            <a:rPr lang="it-IT" b="1"/>
            <a:t>modulated transformer</a:t>
          </a:r>
          <a:r>
            <a:rPr lang="it-IT"/>
            <a:t> processes the input to regulate and fine-tune the rotation.</a:t>
          </a:r>
        </a:p>
      </dgm:t>
    </dgm:pt>
    <dgm:pt modelId="{04F6BEC2-8132-6141-830F-B88D243F730B}" type="parTrans" cxnId="{993DDD87-669E-7B4C-8F80-5796014D8508}">
      <dgm:prSet/>
      <dgm:spPr/>
      <dgm:t>
        <a:bodyPr/>
        <a:lstStyle/>
        <a:p>
          <a:endParaRPr lang="it-IT"/>
        </a:p>
      </dgm:t>
    </dgm:pt>
    <dgm:pt modelId="{8CC48467-2D2E-E44E-B146-A2A23BD97B41}" type="sibTrans" cxnId="{993DDD87-669E-7B4C-8F80-5796014D8508}">
      <dgm:prSet/>
      <dgm:spPr/>
      <dgm:t>
        <a:bodyPr/>
        <a:lstStyle/>
        <a:p>
          <a:endParaRPr lang="it-IT"/>
        </a:p>
      </dgm:t>
    </dgm:pt>
    <dgm:pt modelId="{BEF16361-3AE1-4945-9419-4B0CBF4E5506}" type="pres">
      <dgm:prSet presAssocID="{B237AB97-E2C1-EE4D-ACE1-C3CC55D042FF}" presName="linear" presStyleCnt="0">
        <dgm:presLayoutVars>
          <dgm:animLvl val="lvl"/>
          <dgm:resizeHandles val="exact"/>
        </dgm:presLayoutVars>
      </dgm:prSet>
      <dgm:spPr/>
    </dgm:pt>
    <dgm:pt modelId="{E348C732-3643-604C-924C-A21549E7BB56}" type="pres">
      <dgm:prSet presAssocID="{C1378822-4347-9043-8266-6DD659C746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24E6310-21CB-3646-8431-D34A72A3DF77}" type="pres">
      <dgm:prSet presAssocID="{35B7A9F9-8D32-624E-A49A-BD11AB4A7DA8}" presName="spacer" presStyleCnt="0"/>
      <dgm:spPr/>
    </dgm:pt>
    <dgm:pt modelId="{96109822-C05B-A545-821C-6A505AC4170D}" type="pres">
      <dgm:prSet presAssocID="{44DED582-EEEC-1B43-8924-D2C58525C6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A27E0E3-9941-B341-80F7-A67ADD067819}" type="pres">
      <dgm:prSet presAssocID="{408ADB3F-F1B6-284F-9B24-4895099682E1}" presName="spacer" presStyleCnt="0"/>
      <dgm:spPr/>
    </dgm:pt>
    <dgm:pt modelId="{92813099-882C-604D-9D2B-C515B7EFFB98}" type="pres">
      <dgm:prSet presAssocID="{CE1CC775-F77A-B64E-B9F5-8011209478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453F71-4AE1-9D40-BFBA-85995289E6C4}" srcId="{B237AB97-E2C1-EE4D-ACE1-C3CC55D042FF}" destId="{44DED582-EEEC-1B43-8924-D2C58525C6B7}" srcOrd="1" destOrd="0" parTransId="{8B2DD034-2362-6849-813B-8C985FD569B3}" sibTransId="{408ADB3F-F1B6-284F-9B24-4895099682E1}"/>
    <dgm:cxn modelId="{3B1B307A-4F5E-9341-AC38-083A44109946}" type="presOf" srcId="{44DED582-EEEC-1B43-8924-D2C58525C6B7}" destId="{96109822-C05B-A545-821C-6A505AC4170D}" srcOrd="0" destOrd="0" presId="urn:microsoft.com/office/officeart/2005/8/layout/vList2"/>
    <dgm:cxn modelId="{993DDD87-669E-7B4C-8F80-5796014D8508}" srcId="{B237AB97-E2C1-EE4D-ACE1-C3CC55D042FF}" destId="{CE1CC775-F77A-B64E-B9F5-801120947847}" srcOrd="2" destOrd="0" parTransId="{04F6BEC2-8132-6141-830F-B88D243F730B}" sibTransId="{8CC48467-2D2E-E44E-B146-A2A23BD97B41}"/>
    <dgm:cxn modelId="{C013C297-CEE1-5B41-AD75-AD46AF77200D}" srcId="{B237AB97-E2C1-EE4D-ACE1-C3CC55D042FF}" destId="{C1378822-4347-9043-8266-6DD659C74637}" srcOrd="0" destOrd="0" parTransId="{E00FFEBD-7510-2344-B6F3-22197427B898}" sibTransId="{35B7A9F9-8D32-624E-A49A-BD11AB4A7DA8}"/>
    <dgm:cxn modelId="{A2276BBB-62B7-9A46-8280-B973466AC10D}" type="presOf" srcId="{B237AB97-E2C1-EE4D-ACE1-C3CC55D042FF}" destId="{BEF16361-3AE1-4945-9419-4B0CBF4E5506}" srcOrd="0" destOrd="0" presId="urn:microsoft.com/office/officeart/2005/8/layout/vList2"/>
    <dgm:cxn modelId="{05B62BD5-F989-154F-B806-C93B7F10F802}" type="presOf" srcId="{C1378822-4347-9043-8266-6DD659C74637}" destId="{E348C732-3643-604C-924C-A21549E7BB56}" srcOrd="0" destOrd="0" presId="urn:microsoft.com/office/officeart/2005/8/layout/vList2"/>
    <dgm:cxn modelId="{8DA0A7F7-A965-2D4B-8FA7-732C5A178EAB}" type="presOf" srcId="{CE1CC775-F77A-B64E-B9F5-801120947847}" destId="{92813099-882C-604D-9D2B-C515B7EFFB98}" srcOrd="0" destOrd="0" presId="urn:microsoft.com/office/officeart/2005/8/layout/vList2"/>
    <dgm:cxn modelId="{6DFEA2A3-9E4A-F34D-8801-5A1BC61B5427}" type="presParOf" srcId="{BEF16361-3AE1-4945-9419-4B0CBF4E5506}" destId="{E348C732-3643-604C-924C-A21549E7BB56}" srcOrd="0" destOrd="0" presId="urn:microsoft.com/office/officeart/2005/8/layout/vList2"/>
    <dgm:cxn modelId="{D66C7C2E-1E91-674A-8954-4E86168334CA}" type="presParOf" srcId="{BEF16361-3AE1-4945-9419-4B0CBF4E5506}" destId="{524E6310-21CB-3646-8431-D34A72A3DF77}" srcOrd="1" destOrd="0" presId="urn:microsoft.com/office/officeart/2005/8/layout/vList2"/>
    <dgm:cxn modelId="{26701689-4560-F549-893C-A0F7AA662933}" type="presParOf" srcId="{BEF16361-3AE1-4945-9419-4B0CBF4E5506}" destId="{96109822-C05B-A545-821C-6A505AC4170D}" srcOrd="2" destOrd="0" presId="urn:microsoft.com/office/officeart/2005/8/layout/vList2"/>
    <dgm:cxn modelId="{1BD109F3-F486-2E4D-9631-3BE098F25A88}" type="presParOf" srcId="{BEF16361-3AE1-4945-9419-4B0CBF4E5506}" destId="{DA27E0E3-9941-B341-80F7-A67ADD067819}" srcOrd="3" destOrd="0" presId="urn:microsoft.com/office/officeart/2005/8/layout/vList2"/>
    <dgm:cxn modelId="{B4923335-435B-6B4D-A4B3-F32A090B2820}" type="presParOf" srcId="{BEF16361-3AE1-4945-9419-4B0CBF4E5506}" destId="{92813099-882C-604D-9D2B-C515B7EFFB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07FF9B-C081-9A4B-8E15-73512EA67898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it-IT"/>
        </a:p>
      </dgm:t>
    </dgm:pt>
    <dgm:pt modelId="{2F61F18E-9FEB-8F4B-BD41-DDCAC398A21C}">
      <dgm:prSet/>
      <dgm:spPr/>
      <dgm:t>
        <a:bodyPr/>
        <a:lstStyle/>
        <a:p>
          <a:r>
            <a:rPr lang="it-IT" dirty="0"/>
            <a:t>The </a:t>
          </a:r>
          <a:r>
            <a:rPr lang="it-IT" b="1" dirty="0"/>
            <a:t>link </a:t>
          </a:r>
          <a:r>
            <a:rPr lang="it-IT" b="1" dirty="0" err="1"/>
            <a:t>performs</a:t>
          </a:r>
          <a:r>
            <a:rPr lang="it-IT" b="1" dirty="0"/>
            <a:t> a </a:t>
          </a:r>
          <a:r>
            <a:rPr lang="it-IT" b="1" dirty="0" err="1"/>
            <a:t>change</a:t>
          </a:r>
          <a:r>
            <a:rPr lang="it-IT" b="1" dirty="0"/>
            <a:t> of </a:t>
          </a:r>
          <a:r>
            <a:rPr lang="it-IT" b="1" dirty="0" err="1"/>
            <a:t>coordinates</a:t>
          </a:r>
          <a:r>
            <a:rPr lang="it-IT" dirty="0"/>
            <a:t> from </a:t>
          </a:r>
          <a:r>
            <a:rPr lang="it-IT" dirty="0" err="1"/>
            <a:t>reference</a:t>
          </a:r>
          <a:r>
            <a:rPr lang="it-IT" dirty="0"/>
            <a:t> frame A to </a:t>
          </a:r>
          <a:r>
            <a:rPr lang="it-IT" dirty="0" err="1"/>
            <a:t>reference</a:t>
          </a:r>
          <a:r>
            <a:rPr lang="it-IT" dirty="0"/>
            <a:t> frame B, </a:t>
          </a:r>
          <a:r>
            <a:rPr lang="it-IT" dirty="0" err="1"/>
            <a:t>ensuring</a:t>
          </a:r>
          <a:r>
            <a:rPr lang="it-IT" dirty="0"/>
            <a:t> </a:t>
          </a:r>
          <a:r>
            <a:rPr lang="it-IT" dirty="0" err="1"/>
            <a:t>consistent</a:t>
          </a:r>
          <a:r>
            <a:rPr lang="it-IT" dirty="0"/>
            <a:t> </a:t>
          </a:r>
          <a:r>
            <a:rPr lang="it-IT" dirty="0" err="1"/>
            <a:t>transformation</a:t>
          </a:r>
          <a:r>
            <a:rPr lang="it-IT" dirty="0"/>
            <a:t> of </a:t>
          </a:r>
          <a:r>
            <a:rPr lang="it-IT" dirty="0" err="1"/>
            <a:t>motion</a:t>
          </a:r>
          <a:r>
            <a:rPr lang="it-IT" dirty="0"/>
            <a:t> and </a:t>
          </a:r>
          <a:r>
            <a:rPr lang="it-IT" dirty="0" err="1"/>
            <a:t>forces</a:t>
          </a:r>
          <a:r>
            <a:rPr lang="it-IT" dirty="0"/>
            <a:t>.</a:t>
          </a:r>
        </a:p>
      </dgm:t>
    </dgm:pt>
    <dgm:pt modelId="{39F3469C-59FC-6949-9419-1F8DDB3FA77B}" type="parTrans" cxnId="{5C8E2D9E-B3E0-5D44-BB0F-0889D8B83A30}">
      <dgm:prSet/>
      <dgm:spPr/>
      <dgm:t>
        <a:bodyPr/>
        <a:lstStyle/>
        <a:p>
          <a:endParaRPr lang="it-IT"/>
        </a:p>
      </dgm:t>
    </dgm:pt>
    <dgm:pt modelId="{90E0ACBB-311B-6949-A8FA-37C08B5D060B}" type="sibTrans" cxnId="{5C8E2D9E-B3E0-5D44-BB0F-0889D8B83A30}">
      <dgm:prSet/>
      <dgm:spPr/>
      <dgm:t>
        <a:bodyPr/>
        <a:lstStyle/>
        <a:p>
          <a:endParaRPr lang="it-IT"/>
        </a:p>
      </dgm:t>
    </dgm:pt>
    <dgm:pt modelId="{EA2582FB-DEA5-B64B-845D-28D73EFF0F19}">
      <dgm:prSet/>
      <dgm:spPr/>
      <dgm:t>
        <a:bodyPr/>
        <a:lstStyle/>
        <a:p>
          <a:r>
            <a:rPr lang="it-IT"/>
            <a:t>It also </a:t>
          </a:r>
          <a:r>
            <a:rPr lang="it-IT" b="1"/>
            <a:t>computes the Euler equations</a:t>
          </a:r>
          <a:r>
            <a:rPr lang="it-IT"/>
            <a:t> of motion evaluated at the </a:t>
          </a:r>
          <a:r>
            <a:rPr lang="it-IT" b="1"/>
            <a:t>center of gravity</a:t>
          </a:r>
          <a:r>
            <a:rPr lang="it-IT"/>
            <a:t> of the link, capturing its rotational dynamics.</a:t>
          </a:r>
        </a:p>
      </dgm:t>
    </dgm:pt>
    <dgm:pt modelId="{66BD0A87-41FC-CF49-849E-E0C05277D3FD}" type="parTrans" cxnId="{1E8B47BB-420D-9547-817D-3E49A01568E4}">
      <dgm:prSet/>
      <dgm:spPr/>
      <dgm:t>
        <a:bodyPr/>
        <a:lstStyle/>
        <a:p>
          <a:endParaRPr lang="it-IT"/>
        </a:p>
      </dgm:t>
    </dgm:pt>
    <dgm:pt modelId="{BBC1E906-871E-8F40-9565-13784F10F852}" type="sibTrans" cxnId="{1E8B47BB-420D-9547-817D-3E49A01568E4}">
      <dgm:prSet/>
      <dgm:spPr/>
      <dgm:t>
        <a:bodyPr/>
        <a:lstStyle/>
        <a:p>
          <a:endParaRPr lang="it-IT"/>
        </a:p>
      </dgm:t>
    </dgm:pt>
    <dgm:pt modelId="{0415FA10-2105-E54C-B209-5411087F2173}">
      <dgm:prSet/>
      <dgm:spPr/>
      <dgm:t>
        <a:bodyPr/>
        <a:lstStyle/>
        <a:p>
          <a:r>
            <a:rPr lang="it-IT" dirty="0"/>
            <a:t>The </a:t>
          </a:r>
          <a:r>
            <a:rPr lang="it-IT" b="1" dirty="0"/>
            <a:t>coordinate </a:t>
          </a:r>
          <a:r>
            <a:rPr lang="it-IT" b="1" dirty="0" err="1"/>
            <a:t>transformations</a:t>
          </a:r>
          <a:r>
            <a:rPr lang="it-IT" dirty="0"/>
            <a:t> are </a:t>
          </a:r>
          <a:r>
            <a:rPr lang="it-IT" dirty="0" err="1"/>
            <a:t>carried</a:t>
          </a:r>
          <a:r>
            <a:rPr lang="it-IT" dirty="0"/>
            <a:t> out </a:t>
          </a:r>
          <a:r>
            <a:rPr lang="it-IT" dirty="0" err="1"/>
            <a:t>using</a:t>
          </a:r>
          <a:r>
            <a:rPr lang="it-IT" dirty="0"/>
            <a:t> the </a:t>
          </a:r>
          <a:r>
            <a:rPr lang="it-IT" b="1" dirty="0" err="1"/>
            <a:t>Adjoint</a:t>
          </a:r>
          <a:r>
            <a:rPr lang="it-IT" b="1" dirty="0"/>
            <a:t> Matrix</a:t>
          </a:r>
          <a:r>
            <a:rPr lang="it-IT" dirty="0"/>
            <a:t>, </a:t>
          </a:r>
          <a:r>
            <a:rPr lang="it-IT" dirty="0" err="1"/>
            <a:t>which</a:t>
          </a:r>
          <a:r>
            <a:rPr lang="it-IT" dirty="0"/>
            <a:t> </a:t>
          </a:r>
          <a:r>
            <a:rPr lang="it-IT" dirty="0" err="1"/>
            <a:t>maps</a:t>
          </a:r>
          <a:r>
            <a:rPr lang="it-IT" dirty="0"/>
            <a:t> </a:t>
          </a:r>
          <a:r>
            <a:rPr lang="it-IT" dirty="0" err="1"/>
            <a:t>velocities</a:t>
          </a:r>
          <a:r>
            <a:rPr lang="it-IT" dirty="0"/>
            <a:t> and </a:t>
          </a:r>
          <a:r>
            <a:rPr lang="it-IT" dirty="0" err="1"/>
            <a:t>forces</a:t>
          </a:r>
          <a:r>
            <a:rPr lang="it-IT" dirty="0"/>
            <a:t> </a:t>
          </a:r>
          <a:r>
            <a:rPr lang="it-IT" dirty="0" err="1"/>
            <a:t>between</a:t>
          </a:r>
          <a:r>
            <a:rPr lang="it-IT" dirty="0"/>
            <a:t> frames </a:t>
          </a:r>
          <a:r>
            <a:rPr lang="it-IT" dirty="0" err="1"/>
            <a:t>accurately</a:t>
          </a:r>
          <a:r>
            <a:rPr lang="it-IT" dirty="0"/>
            <a:t>.</a:t>
          </a:r>
        </a:p>
      </dgm:t>
    </dgm:pt>
    <dgm:pt modelId="{580B2DB9-D41F-4646-9748-8E8A24B378BA}" type="parTrans" cxnId="{CCE2C697-8B16-004B-AA21-7B4BD42EE3B1}">
      <dgm:prSet/>
      <dgm:spPr/>
      <dgm:t>
        <a:bodyPr/>
        <a:lstStyle/>
        <a:p>
          <a:endParaRPr lang="it-IT"/>
        </a:p>
      </dgm:t>
    </dgm:pt>
    <dgm:pt modelId="{1F1334EE-2250-364B-A57C-27D53D630BAE}" type="sibTrans" cxnId="{CCE2C697-8B16-004B-AA21-7B4BD42EE3B1}">
      <dgm:prSet/>
      <dgm:spPr/>
      <dgm:t>
        <a:bodyPr/>
        <a:lstStyle/>
        <a:p>
          <a:endParaRPr lang="it-IT"/>
        </a:p>
      </dgm:t>
    </dgm:pt>
    <dgm:pt modelId="{1FBE3DD1-F75E-1543-929E-CFDAF392BA9F}" type="pres">
      <dgm:prSet presAssocID="{CA07FF9B-C081-9A4B-8E15-73512EA67898}" presName="linear" presStyleCnt="0">
        <dgm:presLayoutVars>
          <dgm:animLvl val="lvl"/>
          <dgm:resizeHandles val="exact"/>
        </dgm:presLayoutVars>
      </dgm:prSet>
      <dgm:spPr/>
    </dgm:pt>
    <dgm:pt modelId="{B159E38F-10D5-8C4E-83E0-E0A00E2A545F}" type="pres">
      <dgm:prSet presAssocID="{2F61F18E-9FEB-8F4B-BD41-DDCAC398A21C}" presName="parentText" presStyleLbl="node1" presStyleIdx="0" presStyleCnt="3" custAng="0">
        <dgm:presLayoutVars>
          <dgm:chMax val="0"/>
          <dgm:bulletEnabled val="1"/>
        </dgm:presLayoutVars>
      </dgm:prSet>
      <dgm:spPr/>
    </dgm:pt>
    <dgm:pt modelId="{BFDB9777-704F-2B4B-B96B-DC27F61FDA2A}" type="pres">
      <dgm:prSet presAssocID="{90E0ACBB-311B-6949-A8FA-37C08B5D060B}" presName="spacer" presStyleCnt="0"/>
      <dgm:spPr/>
    </dgm:pt>
    <dgm:pt modelId="{290E6F0C-902C-5F4E-A9D6-DE395B35D36C}" type="pres">
      <dgm:prSet presAssocID="{EA2582FB-DEA5-B64B-845D-28D73EFF0F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8FE906-70FE-1148-ACFB-711E916B004C}" type="pres">
      <dgm:prSet presAssocID="{BBC1E906-871E-8F40-9565-13784F10F852}" presName="spacer" presStyleCnt="0"/>
      <dgm:spPr/>
    </dgm:pt>
    <dgm:pt modelId="{0BE9EC1C-0389-3744-BF41-84DAFF3BADE8}" type="pres">
      <dgm:prSet presAssocID="{0415FA10-2105-E54C-B209-5411087F217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1E91E74-D687-A040-8ADF-1B4A59EAD0DE}" type="presOf" srcId="{EA2582FB-DEA5-B64B-845D-28D73EFF0F19}" destId="{290E6F0C-902C-5F4E-A9D6-DE395B35D36C}" srcOrd="0" destOrd="0" presId="urn:microsoft.com/office/officeart/2005/8/layout/vList2"/>
    <dgm:cxn modelId="{CCE2C697-8B16-004B-AA21-7B4BD42EE3B1}" srcId="{CA07FF9B-C081-9A4B-8E15-73512EA67898}" destId="{0415FA10-2105-E54C-B209-5411087F2173}" srcOrd="2" destOrd="0" parTransId="{580B2DB9-D41F-4646-9748-8E8A24B378BA}" sibTransId="{1F1334EE-2250-364B-A57C-27D53D630BAE}"/>
    <dgm:cxn modelId="{65CE8898-D716-8C4D-814C-6AFB9ED2D0DA}" type="presOf" srcId="{2F61F18E-9FEB-8F4B-BD41-DDCAC398A21C}" destId="{B159E38F-10D5-8C4E-83E0-E0A00E2A545F}" srcOrd="0" destOrd="0" presId="urn:microsoft.com/office/officeart/2005/8/layout/vList2"/>
    <dgm:cxn modelId="{5C8E2D9E-B3E0-5D44-BB0F-0889D8B83A30}" srcId="{CA07FF9B-C081-9A4B-8E15-73512EA67898}" destId="{2F61F18E-9FEB-8F4B-BD41-DDCAC398A21C}" srcOrd="0" destOrd="0" parTransId="{39F3469C-59FC-6949-9419-1F8DDB3FA77B}" sibTransId="{90E0ACBB-311B-6949-A8FA-37C08B5D060B}"/>
    <dgm:cxn modelId="{1E8B47BB-420D-9547-817D-3E49A01568E4}" srcId="{CA07FF9B-C081-9A4B-8E15-73512EA67898}" destId="{EA2582FB-DEA5-B64B-845D-28D73EFF0F19}" srcOrd="1" destOrd="0" parTransId="{66BD0A87-41FC-CF49-849E-E0C05277D3FD}" sibTransId="{BBC1E906-871E-8F40-9565-13784F10F852}"/>
    <dgm:cxn modelId="{9C9F31DA-D0D3-4546-998E-4E2B90A6AB3F}" type="presOf" srcId="{CA07FF9B-C081-9A4B-8E15-73512EA67898}" destId="{1FBE3DD1-F75E-1543-929E-CFDAF392BA9F}" srcOrd="0" destOrd="0" presId="urn:microsoft.com/office/officeart/2005/8/layout/vList2"/>
    <dgm:cxn modelId="{F4799EE6-EAAC-9D42-8DD1-40E55E42F3B3}" type="presOf" srcId="{0415FA10-2105-E54C-B209-5411087F2173}" destId="{0BE9EC1C-0389-3744-BF41-84DAFF3BADE8}" srcOrd="0" destOrd="0" presId="urn:microsoft.com/office/officeart/2005/8/layout/vList2"/>
    <dgm:cxn modelId="{7A836290-B541-CD40-A732-BFA3CDAEB66A}" type="presParOf" srcId="{1FBE3DD1-F75E-1543-929E-CFDAF392BA9F}" destId="{B159E38F-10D5-8C4E-83E0-E0A00E2A545F}" srcOrd="0" destOrd="0" presId="urn:microsoft.com/office/officeart/2005/8/layout/vList2"/>
    <dgm:cxn modelId="{EC714A19-CC4D-4843-AEE3-3A26FA2E7BD2}" type="presParOf" srcId="{1FBE3DD1-F75E-1543-929E-CFDAF392BA9F}" destId="{BFDB9777-704F-2B4B-B96B-DC27F61FDA2A}" srcOrd="1" destOrd="0" presId="urn:microsoft.com/office/officeart/2005/8/layout/vList2"/>
    <dgm:cxn modelId="{9B1C8F21-3D56-B145-8CC8-CA58135525F0}" type="presParOf" srcId="{1FBE3DD1-F75E-1543-929E-CFDAF392BA9F}" destId="{290E6F0C-902C-5F4E-A9D6-DE395B35D36C}" srcOrd="2" destOrd="0" presId="urn:microsoft.com/office/officeart/2005/8/layout/vList2"/>
    <dgm:cxn modelId="{4912DD5F-E468-A24E-A202-A120A96B81FE}" type="presParOf" srcId="{1FBE3DD1-F75E-1543-929E-CFDAF392BA9F}" destId="{758FE906-70FE-1148-ACFB-711E916B004C}" srcOrd="3" destOrd="0" presId="urn:microsoft.com/office/officeart/2005/8/layout/vList2"/>
    <dgm:cxn modelId="{4BB7A49F-DFBA-D349-B761-EF7C4AB944B0}" type="presParOf" srcId="{1FBE3DD1-F75E-1543-929E-CFDAF392BA9F}" destId="{0BE9EC1C-0389-3744-BF41-84DAFF3BAD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60A3F8-A074-D44B-9007-6CA5C2BADDC2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it-IT"/>
        </a:p>
      </dgm:t>
    </dgm:pt>
    <dgm:pt modelId="{6944DD44-264B-A14D-AFD5-63CAC046E375}">
      <dgm:prSet/>
      <dgm:spPr/>
      <dgm:t>
        <a:bodyPr/>
        <a:lstStyle/>
        <a:p>
          <a:r>
            <a:rPr lang="it-IT"/>
            <a:t>A </a:t>
          </a:r>
          <a:r>
            <a:rPr lang="it-IT" b="1"/>
            <a:t>homogeneous transformation</a:t>
          </a:r>
          <a:r>
            <a:rPr lang="it-IT"/>
            <a:t> is applied to express the </a:t>
          </a:r>
          <a:r>
            <a:rPr lang="it-IT" b="1"/>
            <a:t>gravity vector in the body frame</a:t>
          </a:r>
          <a:r>
            <a:rPr lang="it-IT"/>
            <a:t>, aligning it with the local coordinate system of the link.</a:t>
          </a:r>
        </a:p>
      </dgm:t>
    </dgm:pt>
    <dgm:pt modelId="{672ECCA4-CC15-1044-A375-8429663E18D7}" type="parTrans" cxnId="{5C250B22-6E48-5540-8F9C-F20F06F800B1}">
      <dgm:prSet/>
      <dgm:spPr/>
      <dgm:t>
        <a:bodyPr/>
        <a:lstStyle/>
        <a:p>
          <a:endParaRPr lang="it-IT"/>
        </a:p>
      </dgm:t>
    </dgm:pt>
    <dgm:pt modelId="{26542117-F4A7-694E-8EAE-3B60C7D34BA7}" type="sibTrans" cxnId="{5C250B22-6E48-5540-8F9C-F20F06F800B1}">
      <dgm:prSet/>
      <dgm:spPr/>
      <dgm:t>
        <a:bodyPr/>
        <a:lstStyle/>
        <a:p>
          <a:endParaRPr lang="it-IT"/>
        </a:p>
      </dgm:t>
    </dgm:pt>
    <dgm:pt modelId="{8DA731E2-CE81-3646-98EA-A81B8F1BBA82}">
      <dgm:prSet/>
      <dgm:spPr/>
      <dgm:t>
        <a:bodyPr/>
        <a:lstStyle/>
        <a:p>
          <a:r>
            <a:rPr lang="it-IT" dirty="0"/>
            <a:t>The </a:t>
          </a:r>
          <a:r>
            <a:rPr lang="it-IT" dirty="0" err="1"/>
            <a:t>transformed</a:t>
          </a:r>
          <a:r>
            <a:rPr lang="it-IT" dirty="0"/>
            <a:t> </a:t>
          </a:r>
          <a:r>
            <a:rPr lang="it-IT" dirty="0" err="1"/>
            <a:t>gravity</a:t>
          </a:r>
          <a:r>
            <a:rPr lang="it-IT" dirty="0"/>
            <a:t> information </a:t>
          </a:r>
          <a:r>
            <a:rPr lang="it-IT" dirty="0" err="1"/>
            <a:t>is</a:t>
          </a:r>
          <a:r>
            <a:rPr lang="it-IT" dirty="0"/>
            <a:t> </a:t>
          </a:r>
          <a:r>
            <a:rPr lang="it-IT" dirty="0" err="1"/>
            <a:t>then</a:t>
          </a:r>
          <a:r>
            <a:rPr lang="it-IT" dirty="0"/>
            <a:t> </a:t>
          </a:r>
          <a:r>
            <a:rPr lang="it-IT" b="1" dirty="0" err="1"/>
            <a:t>passed</a:t>
          </a:r>
          <a:r>
            <a:rPr lang="it-IT" b="1" dirty="0"/>
            <a:t> to the </a:t>
          </a:r>
          <a:r>
            <a:rPr lang="it-IT" b="1" dirty="0" err="1"/>
            <a:t>subsequent</a:t>
          </a:r>
          <a:r>
            <a:rPr lang="it-IT" b="1" dirty="0"/>
            <a:t> links</a:t>
          </a:r>
          <a:r>
            <a:rPr lang="it-IT" dirty="0"/>
            <a:t>, </a:t>
          </a:r>
          <a:r>
            <a:rPr lang="it-IT" dirty="0" err="1"/>
            <a:t>ensuring</a:t>
          </a:r>
          <a:r>
            <a:rPr lang="it-IT" dirty="0"/>
            <a:t> </a:t>
          </a:r>
          <a:r>
            <a:rPr lang="it-IT" dirty="0" err="1"/>
            <a:t>consistency</a:t>
          </a:r>
          <a:r>
            <a:rPr lang="it-IT" dirty="0"/>
            <a:t> in the </a:t>
          </a:r>
          <a:r>
            <a:rPr lang="it-IT" dirty="0" err="1"/>
            <a:t>dynamic</a:t>
          </a:r>
          <a:r>
            <a:rPr lang="it-IT" dirty="0"/>
            <a:t> </a:t>
          </a:r>
          <a:r>
            <a:rPr lang="it-IT" dirty="0" err="1"/>
            <a:t>computations</a:t>
          </a:r>
          <a:r>
            <a:rPr lang="it-IT" dirty="0"/>
            <a:t> </a:t>
          </a:r>
          <a:r>
            <a:rPr lang="it-IT" dirty="0" err="1"/>
            <a:t>along</a:t>
          </a:r>
          <a:r>
            <a:rPr lang="it-IT" dirty="0"/>
            <a:t> the </a:t>
          </a:r>
          <a:r>
            <a:rPr lang="it-IT" dirty="0" err="1"/>
            <a:t>kinematic</a:t>
          </a:r>
          <a:r>
            <a:rPr lang="it-IT" dirty="0"/>
            <a:t> chain.</a:t>
          </a:r>
        </a:p>
      </dgm:t>
    </dgm:pt>
    <dgm:pt modelId="{7D41ABCA-059A-6E4C-A68A-84F783D38ECE}" type="parTrans" cxnId="{69600C5D-1139-5146-95C1-3517AB2983B6}">
      <dgm:prSet/>
      <dgm:spPr/>
      <dgm:t>
        <a:bodyPr/>
        <a:lstStyle/>
        <a:p>
          <a:endParaRPr lang="it-IT"/>
        </a:p>
      </dgm:t>
    </dgm:pt>
    <dgm:pt modelId="{D8D3FF0F-1F6A-474E-B829-B930DD8C7854}" type="sibTrans" cxnId="{69600C5D-1139-5146-95C1-3517AB2983B6}">
      <dgm:prSet/>
      <dgm:spPr/>
      <dgm:t>
        <a:bodyPr/>
        <a:lstStyle/>
        <a:p>
          <a:endParaRPr lang="it-IT"/>
        </a:p>
      </dgm:t>
    </dgm:pt>
    <dgm:pt modelId="{B866B213-9B27-8B41-87C9-D3089B66E517}" type="pres">
      <dgm:prSet presAssocID="{7260A3F8-A074-D44B-9007-6CA5C2BADDC2}" presName="linear" presStyleCnt="0">
        <dgm:presLayoutVars>
          <dgm:animLvl val="lvl"/>
          <dgm:resizeHandles val="exact"/>
        </dgm:presLayoutVars>
      </dgm:prSet>
      <dgm:spPr/>
    </dgm:pt>
    <dgm:pt modelId="{BB3E535D-6FC6-CC45-B10D-94108BDBC160}" type="pres">
      <dgm:prSet presAssocID="{6944DD44-264B-A14D-AFD5-63CAC046E37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43C714-0318-D64A-BF26-5E0E3A7142AE}" type="pres">
      <dgm:prSet presAssocID="{26542117-F4A7-694E-8EAE-3B60C7D34BA7}" presName="spacer" presStyleCnt="0"/>
      <dgm:spPr/>
    </dgm:pt>
    <dgm:pt modelId="{58F869C8-6BDF-8749-90D0-C30070D02ACA}" type="pres">
      <dgm:prSet presAssocID="{8DA731E2-CE81-3646-98EA-A81B8F1BBA8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C250B22-6E48-5540-8F9C-F20F06F800B1}" srcId="{7260A3F8-A074-D44B-9007-6CA5C2BADDC2}" destId="{6944DD44-264B-A14D-AFD5-63CAC046E375}" srcOrd="0" destOrd="0" parTransId="{672ECCA4-CC15-1044-A375-8429663E18D7}" sibTransId="{26542117-F4A7-694E-8EAE-3B60C7D34BA7}"/>
    <dgm:cxn modelId="{F36CF833-C7EB-DC4B-8F06-666ED31D35A9}" type="presOf" srcId="{7260A3F8-A074-D44B-9007-6CA5C2BADDC2}" destId="{B866B213-9B27-8B41-87C9-D3089B66E517}" srcOrd="0" destOrd="0" presId="urn:microsoft.com/office/officeart/2005/8/layout/vList2"/>
    <dgm:cxn modelId="{69600C5D-1139-5146-95C1-3517AB2983B6}" srcId="{7260A3F8-A074-D44B-9007-6CA5C2BADDC2}" destId="{8DA731E2-CE81-3646-98EA-A81B8F1BBA82}" srcOrd="1" destOrd="0" parTransId="{7D41ABCA-059A-6E4C-A68A-84F783D38ECE}" sibTransId="{D8D3FF0F-1F6A-474E-B829-B930DD8C7854}"/>
    <dgm:cxn modelId="{509BE295-5554-974B-9C31-BD45768327A3}" type="presOf" srcId="{8DA731E2-CE81-3646-98EA-A81B8F1BBA82}" destId="{58F869C8-6BDF-8749-90D0-C30070D02ACA}" srcOrd="0" destOrd="0" presId="urn:microsoft.com/office/officeart/2005/8/layout/vList2"/>
    <dgm:cxn modelId="{220C59C6-4FC6-4C4E-9EAE-4D436D642816}" type="presOf" srcId="{6944DD44-264B-A14D-AFD5-63CAC046E375}" destId="{BB3E535D-6FC6-CC45-B10D-94108BDBC160}" srcOrd="0" destOrd="0" presId="urn:microsoft.com/office/officeart/2005/8/layout/vList2"/>
    <dgm:cxn modelId="{98D5AB8C-4E7A-F04F-B321-916FE60B1F53}" type="presParOf" srcId="{B866B213-9B27-8B41-87C9-D3089B66E517}" destId="{BB3E535D-6FC6-CC45-B10D-94108BDBC160}" srcOrd="0" destOrd="0" presId="urn:microsoft.com/office/officeart/2005/8/layout/vList2"/>
    <dgm:cxn modelId="{2AF8998D-C294-284F-86A5-2FEFEA135E95}" type="presParOf" srcId="{B866B213-9B27-8B41-87C9-D3089B66E517}" destId="{6443C714-0318-D64A-BF26-5E0E3A7142AE}" srcOrd="1" destOrd="0" presId="urn:microsoft.com/office/officeart/2005/8/layout/vList2"/>
    <dgm:cxn modelId="{A657D637-9C7D-364F-8ACE-28F1F092E47E}" type="presParOf" srcId="{B866B213-9B27-8B41-87C9-D3089B66E517}" destId="{58F869C8-6BDF-8749-90D0-C30070D02AC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E5A3E-4CE2-7A4E-A651-CCB8F49A2179}">
      <dsp:nvSpPr>
        <dsp:cNvPr id="0" name=""/>
        <dsp:cNvSpPr/>
      </dsp:nvSpPr>
      <dsp:spPr>
        <a:xfrm>
          <a:off x="0" y="65096"/>
          <a:ext cx="5991225" cy="10810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Modeling and simulation of UR-5 robotic manipulator </a:t>
          </a:r>
          <a:endParaRPr lang="it-IT" sz="2800" kern="1200"/>
        </a:p>
      </dsp:txBody>
      <dsp:txXfrm>
        <a:off x="52774" y="117870"/>
        <a:ext cx="5885677" cy="975532"/>
      </dsp:txXfrm>
    </dsp:sp>
    <dsp:sp modelId="{64918689-E426-AE44-A99B-59C181DF5FA6}">
      <dsp:nvSpPr>
        <dsp:cNvPr id="0" name=""/>
        <dsp:cNvSpPr/>
      </dsp:nvSpPr>
      <dsp:spPr>
        <a:xfrm>
          <a:off x="0" y="1226816"/>
          <a:ext cx="5991225" cy="1081080"/>
        </a:xfrm>
        <a:prstGeom prst="roundRect">
          <a:avLst/>
        </a:prstGeom>
        <a:solidFill>
          <a:schemeClr val="accent4">
            <a:hueOff val="-5306312"/>
            <a:satOff val="13118"/>
            <a:lumOff val="73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Simulation developed in 20-sim</a:t>
          </a:r>
          <a:endParaRPr lang="it-IT" sz="2800" kern="1200"/>
        </a:p>
      </dsp:txBody>
      <dsp:txXfrm>
        <a:off x="52774" y="1279590"/>
        <a:ext cx="5885677" cy="975532"/>
      </dsp:txXfrm>
    </dsp:sp>
    <dsp:sp modelId="{25C42885-FF7D-4F46-AA02-030D09C30504}">
      <dsp:nvSpPr>
        <dsp:cNvPr id="0" name=""/>
        <dsp:cNvSpPr/>
      </dsp:nvSpPr>
      <dsp:spPr>
        <a:xfrm>
          <a:off x="0" y="2388536"/>
          <a:ext cx="5991225" cy="1081080"/>
        </a:xfrm>
        <a:prstGeom prst="roundRect">
          <a:avLst/>
        </a:prstGeom>
        <a:solidFill>
          <a:schemeClr val="accent4">
            <a:hueOff val="-10612624"/>
            <a:satOff val="26235"/>
            <a:lumOff val="146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Kinematics derived according to Denavit-Hartenberg convention</a:t>
          </a:r>
          <a:endParaRPr lang="it-IT" sz="2800" kern="1200"/>
        </a:p>
      </dsp:txBody>
      <dsp:txXfrm>
        <a:off x="52774" y="2441310"/>
        <a:ext cx="5885677" cy="975532"/>
      </dsp:txXfrm>
    </dsp:sp>
    <dsp:sp modelId="{2C997D35-325F-E14B-8DFD-750CBD438305}">
      <dsp:nvSpPr>
        <dsp:cNvPr id="0" name=""/>
        <dsp:cNvSpPr/>
      </dsp:nvSpPr>
      <dsp:spPr>
        <a:xfrm>
          <a:off x="0" y="3550256"/>
          <a:ext cx="5991225" cy="1081080"/>
        </a:xfrm>
        <a:prstGeom prst="roundRect">
          <a:avLst/>
        </a:prstGeom>
        <a:solidFill>
          <a:schemeClr val="accent4">
            <a:hueOff val="-15918935"/>
            <a:satOff val="39353"/>
            <a:lumOff val="2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Actuation performed using Harmonic Drives</a:t>
          </a:r>
          <a:endParaRPr lang="it-IT" sz="2800" kern="1200"/>
        </a:p>
      </dsp:txBody>
      <dsp:txXfrm>
        <a:off x="52774" y="3603030"/>
        <a:ext cx="5885677" cy="975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70C2F-24D8-1C4A-B5AB-D63CC02645C3}">
      <dsp:nvSpPr>
        <dsp:cNvPr id="0" name=""/>
        <dsp:cNvSpPr/>
      </dsp:nvSpPr>
      <dsp:spPr>
        <a:xfrm rot="5400000">
          <a:off x="5055703" y="-1950348"/>
          <a:ext cx="1095011" cy="5273608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a </a:t>
          </a:r>
          <a:r>
            <a:rPr lang="it-IT" sz="1500" b="1" kern="1200"/>
            <a:t>flexspline</a:t>
          </a:r>
          <a:r>
            <a:rPr lang="it-IT" sz="1500" kern="1200"/>
            <a:t>, a flexible gear with internal teeth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a </a:t>
          </a:r>
          <a:r>
            <a:rPr lang="it-IT" sz="1500" b="1" kern="1200"/>
            <a:t>wave generator</a:t>
          </a:r>
          <a:r>
            <a:rPr lang="it-IT" sz="1500" kern="1200"/>
            <a:t>, an elliptical plug that deforms the flexspline as it rotates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a </a:t>
          </a:r>
          <a:r>
            <a:rPr lang="it-IT" sz="1500" b="1" kern="1200"/>
            <a:t>circular spline</a:t>
          </a:r>
          <a:r>
            <a:rPr lang="it-IT" sz="1500" kern="1200"/>
            <a:t>, a rigid gear with external teeth</a:t>
          </a:r>
          <a:endParaRPr lang="en-US" sz="1500" kern="1200"/>
        </a:p>
      </dsp:txBody>
      <dsp:txXfrm rot="-5400000">
        <a:off x="2966405" y="192404"/>
        <a:ext cx="5220154" cy="988103"/>
      </dsp:txXfrm>
    </dsp:sp>
    <dsp:sp modelId="{5E7A6374-80C7-434E-B3BC-D2AAFA94D449}">
      <dsp:nvSpPr>
        <dsp:cNvPr id="0" name=""/>
        <dsp:cNvSpPr/>
      </dsp:nvSpPr>
      <dsp:spPr>
        <a:xfrm>
          <a:off x="0" y="2073"/>
          <a:ext cx="2966404" cy="13687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/>
            <a:t>A </a:t>
          </a:r>
          <a:r>
            <a:rPr lang="it-IT" sz="2500" b="1" kern="1200" dirty="0" err="1"/>
            <a:t>gear</a:t>
          </a:r>
          <a:r>
            <a:rPr lang="it-IT" sz="2500" b="1" kern="1200" dirty="0"/>
            <a:t> system </a:t>
          </a:r>
          <a:r>
            <a:rPr lang="it-IT" sz="2500" b="1" kern="1200" dirty="0" err="1"/>
            <a:t>consisting</a:t>
          </a:r>
          <a:r>
            <a:rPr lang="it-IT" sz="2500" b="1" kern="1200" dirty="0"/>
            <a:t> of</a:t>
          </a:r>
          <a:r>
            <a:rPr lang="it-IT" sz="2500" kern="1200" dirty="0"/>
            <a:t>:</a:t>
          </a:r>
          <a:endParaRPr lang="en-US" sz="2500" kern="1200" dirty="0"/>
        </a:p>
      </dsp:txBody>
      <dsp:txXfrm>
        <a:off x="66818" y="68891"/>
        <a:ext cx="2832768" cy="1235128"/>
      </dsp:txXfrm>
    </dsp:sp>
    <dsp:sp modelId="{C98FBF1E-0297-784D-B3F7-25905AE7ADE7}">
      <dsp:nvSpPr>
        <dsp:cNvPr id="0" name=""/>
        <dsp:cNvSpPr/>
      </dsp:nvSpPr>
      <dsp:spPr>
        <a:xfrm rot="5400000">
          <a:off x="5055703" y="-513145"/>
          <a:ext cx="1095011" cy="5273608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b="1" kern="1200"/>
            <a:t>reduction of angular velocity</a:t>
          </a:r>
          <a:r>
            <a:rPr lang="it-IT" sz="1500" kern="1200"/>
            <a:t> at the output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b="1" kern="1200" dirty="0" err="1"/>
            <a:t>increase</a:t>
          </a:r>
          <a:r>
            <a:rPr lang="it-IT" sz="1500" b="1" kern="1200" dirty="0"/>
            <a:t> of </a:t>
          </a:r>
          <a:r>
            <a:rPr lang="it-IT" sz="1500" b="1" kern="1200" dirty="0" err="1"/>
            <a:t>transmitted</a:t>
          </a:r>
          <a:r>
            <a:rPr lang="it-IT" sz="1500" b="1" kern="1200" dirty="0"/>
            <a:t> torque</a:t>
          </a:r>
          <a:endParaRPr lang="en-US" sz="1500" kern="1200" dirty="0"/>
        </a:p>
      </dsp:txBody>
      <dsp:txXfrm rot="-5400000">
        <a:off x="2966405" y="1629607"/>
        <a:ext cx="5220154" cy="988103"/>
      </dsp:txXfrm>
    </dsp:sp>
    <dsp:sp modelId="{CE362482-6CE9-474B-97FB-94F890FA48EE}">
      <dsp:nvSpPr>
        <dsp:cNvPr id="0" name=""/>
        <dsp:cNvSpPr/>
      </dsp:nvSpPr>
      <dsp:spPr>
        <a:xfrm>
          <a:off x="0" y="1439276"/>
          <a:ext cx="2966404" cy="13687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b="1" kern="1200" dirty="0"/>
            <a:t>The </a:t>
          </a:r>
          <a:r>
            <a:rPr lang="it-IT" sz="2500" b="1" kern="1200" dirty="0" err="1"/>
            <a:t>controlled</a:t>
          </a:r>
          <a:r>
            <a:rPr lang="it-IT" sz="2500" b="1" kern="1200" dirty="0"/>
            <a:t> </a:t>
          </a:r>
          <a:r>
            <a:rPr lang="it-IT" sz="2500" b="1" kern="1200" dirty="0" err="1"/>
            <a:t>deformation</a:t>
          </a:r>
          <a:r>
            <a:rPr lang="it-IT" sz="2500" b="1" kern="1200" dirty="0"/>
            <a:t> of the </a:t>
          </a:r>
          <a:r>
            <a:rPr lang="it-IT" sz="2500" b="1" kern="1200" dirty="0" err="1"/>
            <a:t>flexspline</a:t>
          </a:r>
          <a:r>
            <a:rPr lang="it-IT" sz="2500" b="1" kern="1200" dirty="0"/>
            <a:t> </a:t>
          </a:r>
          <a:r>
            <a:rPr lang="it-IT" sz="2500" b="1" kern="1200" dirty="0" err="1"/>
            <a:t>allows</a:t>
          </a:r>
          <a:r>
            <a:rPr lang="it-IT" sz="2500" kern="1200" dirty="0"/>
            <a:t>:</a:t>
          </a:r>
          <a:endParaRPr lang="en-US" sz="2500" kern="1200" dirty="0"/>
        </a:p>
      </dsp:txBody>
      <dsp:txXfrm>
        <a:off x="66818" y="1506094"/>
        <a:ext cx="2832768" cy="1235128"/>
      </dsp:txXfrm>
    </dsp:sp>
    <dsp:sp modelId="{138B7F2E-BFD0-9843-A937-DC834E004CAD}">
      <dsp:nvSpPr>
        <dsp:cNvPr id="0" name=""/>
        <dsp:cNvSpPr/>
      </dsp:nvSpPr>
      <dsp:spPr>
        <a:xfrm rot="5400000">
          <a:off x="5055703" y="924056"/>
          <a:ext cx="1095011" cy="5273608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a </a:t>
          </a:r>
          <a:r>
            <a:rPr lang="it-IT" sz="1500" b="1" kern="1200"/>
            <a:t>non-linear spring</a:t>
          </a:r>
          <a:r>
            <a:rPr lang="it-IT" sz="1500" kern="1200"/>
            <a:t> (elasticity of the flexspline)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/>
            <a:t>two </a:t>
          </a:r>
          <a:r>
            <a:rPr lang="it-IT" sz="1500" b="1" kern="1200"/>
            <a:t>bearings</a:t>
          </a:r>
          <a:r>
            <a:rPr lang="it-IT" sz="1500" kern="1200"/>
            <a:t> (supporting the wave generator)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500" kern="1200" dirty="0"/>
            <a:t>and the </a:t>
          </a:r>
          <a:r>
            <a:rPr lang="it-IT" sz="1500" b="1" kern="1200" dirty="0" err="1"/>
            <a:t>inertia</a:t>
          </a:r>
          <a:r>
            <a:rPr lang="it-IT" sz="1500" kern="1200" dirty="0"/>
            <a:t> of </a:t>
          </a:r>
          <a:r>
            <a:rPr lang="it-IT" sz="1500" kern="1200" dirty="0" err="1"/>
            <a:t>moving</a:t>
          </a:r>
          <a:r>
            <a:rPr lang="it-IT" sz="1500" kern="1200" dirty="0"/>
            <a:t> parts.</a:t>
          </a:r>
          <a:endParaRPr lang="en-US" sz="1500" kern="1200" dirty="0"/>
        </a:p>
      </dsp:txBody>
      <dsp:txXfrm rot="-5400000">
        <a:off x="2966405" y="3066808"/>
        <a:ext cx="5220154" cy="988103"/>
      </dsp:txXfrm>
    </dsp:sp>
    <dsp:sp modelId="{7B1A6E26-0B08-064F-AB8A-6162D74BBEF2}">
      <dsp:nvSpPr>
        <dsp:cNvPr id="0" name=""/>
        <dsp:cNvSpPr/>
      </dsp:nvSpPr>
      <dsp:spPr>
        <a:xfrm>
          <a:off x="0" y="2876478"/>
          <a:ext cx="2966404" cy="13687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dirty="0"/>
            <a:t>The </a:t>
          </a:r>
          <a:r>
            <a:rPr lang="it-IT" sz="2500" kern="1200" dirty="0" err="1"/>
            <a:t>mechanical</a:t>
          </a:r>
          <a:r>
            <a:rPr lang="it-IT" sz="2500" kern="1200" dirty="0"/>
            <a:t> </a:t>
          </a:r>
          <a:r>
            <a:rPr lang="it-IT" sz="2500" kern="1200" dirty="0" err="1"/>
            <a:t>behavior</a:t>
          </a:r>
          <a:r>
            <a:rPr lang="it-IT" sz="2500" kern="1200" dirty="0"/>
            <a:t> can be </a:t>
          </a:r>
          <a:r>
            <a:rPr lang="it-IT" sz="2500" kern="1200" dirty="0" err="1"/>
            <a:t>modeled</a:t>
          </a:r>
          <a:r>
            <a:rPr lang="it-IT" sz="2500" kern="1200" dirty="0"/>
            <a:t> with:</a:t>
          </a:r>
          <a:endParaRPr lang="en-US" sz="2500" kern="1200" dirty="0"/>
        </a:p>
      </dsp:txBody>
      <dsp:txXfrm>
        <a:off x="66818" y="2943296"/>
        <a:ext cx="2832768" cy="1235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8C732-3643-604C-924C-A21549E7BB56}">
      <dsp:nvSpPr>
        <dsp:cNvPr id="0" name=""/>
        <dsp:cNvSpPr/>
      </dsp:nvSpPr>
      <dsp:spPr>
        <a:xfrm>
          <a:off x="0" y="436883"/>
          <a:ext cx="3967168" cy="1022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/>
            <a:t>Rotational joint aligned with the z-axis</a:t>
          </a:r>
          <a:r>
            <a:rPr lang="it-IT" sz="1900" kern="1200"/>
            <a:t>, designed to perform controlled rotational motion.</a:t>
          </a:r>
        </a:p>
      </dsp:txBody>
      <dsp:txXfrm>
        <a:off x="49918" y="486801"/>
        <a:ext cx="3867332" cy="922744"/>
      </dsp:txXfrm>
    </dsp:sp>
    <dsp:sp modelId="{96109822-C05B-A545-821C-6A505AC4170D}">
      <dsp:nvSpPr>
        <dsp:cNvPr id="0" name=""/>
        <dsp:cNvSpPr/>
      </dsp:nvSpPr>
      <dsp:spPr>
        <a:xfrm>
          <a:off x="0" y="1514183"/>
          <a:ext cx="3967168" cy="1022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Actuation provided by the </a:t>
          </a:r>
          <a:r>
            <a:rPr lang="it-IT" sz="1900" b="1" kern="1200"/>
            <a:t>velocity input from the Harmonic Drive</a:t>
          </a:r>
          <a:r>
            <a:rPr lang="it-IT" sz="1900" kern="1200"/>
            <a:t>, ensuring high torque and precision.</a:t>
          </a:r>
        </a:p>
      </dsp:txBody>
      <dsp:txXfrm>
        <a:off x="49918" y="1564101"/>
        <a:ext cx="3867332" cy="922744"/>
      </dsp:txXfrm>
    </dsp:sp>
    <dsp:sp modelId="{92813099-882C-604D-9D2B-C515B7EFFB98}">
      <dsp:nvSpPr>
        <dsp:cNvPr id="0" name=""/>
        <dsp:cNvSpPr/>
      </dsp:nvSpPr>
      <dsp:spPr>
        <a:xfrm>
          <a:off x="0" y="2591483"/>
          <a:ext cx="3967168" cy="1022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A </a:t>
          </a:r>
          <a:r>
            <a:rPr lang="it-IT" sz="1900" b="1" kern="1200"/>
            <a:t>modulated transformer</a:t>
          </a:r>
          <a:r>
            <a:rPr lang="it-IT" sz="1900" kern="1200"/>
            <a:t> processes the input to regulate and fine-tune the rotation.</a:t>
          </a:r>
        </a:p>
      </dsp:txBody>
      <dsp:txXfrm>
        <a:off x="49918" y="2641401"/>
        <a:ext cx="3867332" cy="9227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59E38F-10D5-8C4E-83E0-E0A00E2A545F}">
      <dsp:nvSpPr>
        <dsp:cNvPr id="0" name=""/>
        <dsp:cNvSpPr/>
      </dsp:nvSpPr>
      <dsp:spPr>
        <a:xfrm>
          <a:off x="0" y="18757"/>
          <a:ext cx="4461553" cy="122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The </a:t>
          </a:r>
          <a:r>
            <a:rPr lang="it-IT" sz="1800" b="1" kern="1200" dirty="0"/>
            <a:t>link </a:t>
          </a:r>
          <a:r>
            <a:rPr lang="it-IT" sz="1800" b="1" kern="1200" dirty="0" err="1"/>
            <a:t>performs</a:t>
          </a:r>
          <a:r>
            <a:rPr lang="it-IT" sz="1800" b="1" kern="1200" dirty="0"/>
            <a:t> a </a:t>
          </a:r>
          <a:r>
            <a:rPr lang="it-IT" sz="1800" b="1" kern="1200" dirty="0" err="1"/>
            <a:t>change</a:t>
          </a:r>
          <a:r>
            <a:rPr lang="it-IT" sz="1800" b="1" kern="1200" dirty="0"/>
            <a:t> of </a:t>
          </a:r>
          <a:r>
            <a:rPr lang="it-IT" sz="1800" b="1" kern="1200" dirty="0" err="1"/>
            <a:t>coordinates</a:t>
          </a:r>
          <a:r>
            <a:rPr lang="it-IT" sz="1800" kern="1200" dirty="0"/>
            <a:t> from </a:t>
          </a:r>
          <a:r>
            <a:rPr lang="it-IT" sz="1800" kern="1200" dirty="0" err="1"/>
            <a:t>reference</a:t>
          </a:r>
          <a:r>
            <a:rPr lang="it-IT" sz="1800" kern="1200" dirty="0"/>
            <a:t> frame A to </a:t>
          </a:r>
          <a:r>
            <a:rPr lang="it-IT" sz="1800" kern="1200" dirty="0" err="1"/>
            <a:t>reference</a:t>
          </a:r>
          <a:r>
            <a:rPr lang="it-IT" sz="1800" kern="1200" dirty="0"/>
            <a:t> frame B, </a:t>
          </a:r>
          <a:r>
            <a:rPr lang="it-IT" sz="1800" kern="1200" dirty="0" err="1"/>
            <a:t>ensuring</a:t>
          </a:r>
          <a:r>
            <a:rPr lang="it-IT" sz="1800" kern="1200" dirty="0"/>
            <a:t> </a:t>
          </a:r>
          <a:r>
            <a:rPr lang="it-IT" sz="1800" kern="1200" dirty="0" err="1"/>
            <a:t>consistent</a:t>
          </a:r>
          <a:r>
            <a:rPr lang="it-IT" sz="1800" kern="1200" dirty="0"/>
            <a:t> </a:t>
          </a:r>
          <a:r>
            <a:rPr lang="it-IT" sz="1800" kern="1200" dirty="0" err="1"/>
            <a:t>transformation</a:t>
          </a:r>
          <a:r>
            <a:rPr lang="it-IT" sz="1800" kern="1200" dirty="0"/>
            <a:t> of </a:t>
          </a:r>
          <a:r>
            <a:rPr lang="it-IT" sz="1800" kern="1200" dirty="0" err="1"/>
            <a:t>motion</a:t>
          </a:r>
          <a:r>
            <a:rPr lang="it-IT" sz="1800" kern="1200" dirty="0"/>
            <a:t> and </a:t>
          </a:r>
          <a:r>
            <a:rPr lang="it-IT" sz="1800" kern="1200" dirty="0" err="1"/>
            <a:t>forces</a:t>
          </a:r>
          <a:r>
            <a:rPr lang="it-IT" sz="1800" kern="1200" dirty="0"/>
            <a:t>.</a:t>
          </a:r>
        </a:p>
      </dsp:txBody>
      <dsp:txXfrm>
        <a:off x="59628" y="78385"/>
        <a:ext cx="4342297" cy="1102223"/>
      </dsp:txXfrm>
    </dsp:sp>
    <dsp:sp modelId="{290E6F0C-902C-5F4E-A9D6-DE395B35D36C}">
      <dsp:nvSpPr>
        <dsp:cNvPr id="0" name=""/>
        <dsp:cNvSpPr/>
      </dsp:nvSpPr>
      <dsp:spPr>
        <a:xfrm>
          <a:off x="0" y="1292077"/>
          <a:ext cx="4461553" cy="122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It also </a:t>
          </a:r>
          <a:r>
            <a:rPr lang="it-IT" sz="1800" b="1" kern="1200"/>
            <a:t>computes the Euler equations</a:t>
          </a:r>
          <a:r>
            <a:rPr lang="it-IT" sz="1800" kern="1200"/>
            <a:t> of motion evaluated at the </a:t>
          </a:r>
          <a:r>
            <a:rPr lang="it-IT" sz="1800" b="1" kern="1200"/>
            <a:t>center of gravity</a:t>
          </a:r>
          <a:r>
            <a:rPr lang="it-IT" sz="1800" kern="1200"/>
            <a:t> of the link, capturing its rotational dynamics.</a:t>
          </a:r>
        </a:p>
      </dsp:txBody>
      <dsp:txXfrm>
        <a:off x="59628" y="1351705"/>
        <a:ext cx="4342297" cy="1102223"/>
      </dsp:txXfrm>
    </dsp:sp>
    <dsp:sp modelId="{0BE9EC1C-0389-3744-BF41-84DAFF3BADE8}">
      <dsp:nvSpPr>
        <dsp:cNvPr id="0" name=""/>
        <dsp:cNvSpPr/>
      </dsp:nvSpPr>
      <dsp:spPr>
        <a:xfrm>
          <a:off x="0" y="2565397"/>
          <a:ext cx="4461553" cy="122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The </a:t>
          </a:r>
          <a:r>
            <a:rPr lang="it-IT" sz="1800" b="1" kern="1200" dirty="0"/>
            <a:t>coordinate </a:t>
          </a:r>
          <a:r>
            <a:rPr lang="it-IT" sz="1800" b="1" kern="1200" dirty="0" err="1"/>
            <a:t>transformations</a:t>
          </a:r>
          <a:r>
            <a:rPr lang="it-IT" sz="1800" kern="1200" dirty="0"/>
            <a:t> are </a:t>
          </a:r>
          <a:r>
            <a:rPr lang="it-IT" sz="1800" kern="1200" dirty="0" err="1"/>
            <a:t>carried</a:t>
          </a:r>
          <a:r>
            <a:rPr lang="it-IT" sz="1800" kern="1200" dirty="0"/>
            <a:t> out </a:t>
          </a:r>
          <a:r>
            <a:rPr lang="it-IT" sz="1800" kern="1200" dirty="0" err="1"/>
            <a:t>using</a:t>
          </a:r>
          <a:r>
            <a:rPr lang="it-IT" sz="1800" kern="1200" dirty="0"/>
            <a:t> the </a:t>
          </a:r>
          <a:r>
            <a:rPr lang="it-IT" sz="1800" b="1" kern="1200" dirty="0" err="1"/>
            <a:t>Adjoint</a:t>
          </a:r>
          <a:r>
            <a:rPr lang="it-IT" sz="1800" b="1" kern="1200" dirty="0"/>
            <a:t> Matrix</a:t>
          </a:r>
          <a:r>
            <a:rPr lang="it-IT" sz="1800" kern="1200" dirty="0"/>
            <a:t>, </a:t>
          </a:r>
          <a:r>
            <a:rPr lang="it-IT" sz="1800" kern="1200" dirty="0" err="1"/>
            <a:t>which</a:t>
          </a:r>
          <a:r>
            <a:rPr lang="it-IT" sz="1800" kern="1200" dirty="0"/>
            <a:t> </a:t>
          </a:r>
          <a:r>
            <a:rPr lang="it-IT" sz="1800" kern="1200" dirty="0" err="1"/>
            <a:t>maps</a:t>
          </a:r>
          <a:r>
            <a:rPr lang="it-IT" sz="1800" kern="1200" dirty="0"/>
            <a:t> </a:t>
          </a:r>
          <a:r>
            <a:rPr lang="it-IT" sz="1800" kern="1200" dirty="0" err="1"/>
            <a:t>velocities</a:t>
          </a:r>
          <a:r>
            <a:rPr lang="it-IT" sz="1800" kern="1200" dirty="0"/>
            <a:t> and </a:t>
          </a:r>
          <a:r>
            <a:rPr lang="it-IT" sz="1800" kern="1200" dirty="0" err="1"/>
            <a:t>forces</a:t>
          </a:r>
          <a:r>
            <a:rPr lang="it-IT" sz="1800" kern="1200" dirty="0"/>
            <a:t> </a:t>
          </a:r>
          <a:r>
            <a:rPr lang="it-IT" sz="1800" kern="1200" dirty="0" err="1"/>
            <a:t>between</a:t>
          </a:r>
          <a:r>
            <a:rPr lang="it-IT" sz="1800" kern="1200" dirty="0"/>
            <a:t> frames </a:t>
          </a:r>
          <a:r>
            <a:rPr lang="it-IT" sz="1800" kern="1200" dirty="0" err="1"/>
            <a:t>accurately</a:t>
          </a:r>
          <a:r>
            <a:rPr lang="it-IT" sz="1800" kern="1200" dirty="0"/>
            <a:t>.</a:t>
          </a:r>
        </a:p>
      </dsp:txBody>
      <dsp:txXfrm>
        <a:off x="59628" y="2625025"/>
        <a:ext cx="4342297" cy="1102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E535D-6FC6-CC45-B10D-94108BDBC160}">
      <dsp:nvSpPr>
        <dsp:cNvPr id="0" name=""/>
        <dsp:cNvSpPr/>
      </dsp:nvSpPr>
      <dsp:spPr>
        <a:xfrm>
          <a:off x="0" y="114672"/>
          <a:ext cx="4442534" cy="753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A </a:t>
          </a:r>
          <a:r>
            <a:rPr lang="it-IT" sz="1400" b="1" kern="1200"/>
            <a:t>homogeneous transformation</a:t>
          </a:r>
          <a:r>
            <a:rPr lang="it-IT" sz="1400" kern="1200"/>
            <a:t> is applied to express the </a:t>
          </a:r>
          <a:r>
            <a:rPr lang="it-IT" sz="1400" b="1" kern="1200"/>
            <a:t>gravity vector in the body frame</a:t>
          </a:r>
          <a:r>
            <a:rPr lang="it-IT" sz="1400" kern="1200"/>
            <a:t>, aligning it with the local coordinate system of the link.</a:t>
          </a:r>
        </a:p>
      </dsp:txBody>
      <dsp:txXfrm>
        <a:off x="36782" y="151454"/>
        <a:ext cx="4368970" cy="679916"/>
      </dsp:txXfrm>
    </dsp:sp>
    <dsp:sp modelId="{58F869C8-6BDF-8749-90D0-C30070D02ACA}">
      <dsp:nvSpPr>
        <dsp:cNvPr id="0" name=""/>
        <dsp:cNvSpPr/>
      </dsp:nvSpPr>
      <dsp:spPr>
        <a:xfrm>
          <a:off x="0" y="908473"/>
          <a:ext cx="4442534" cy="753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The </a:t>
          </a:r>
          <a:r>
            <a:rPr lang="it-IT" sz="1400" kern="1200" dirty="0" err="1"/>
            <a:t>transformed</a:t>
          </a:r>
          <a:r>
            <a:rPr lang="it-IT" sz="1400" kern="1200" dirty="0"/>
            <a:t> </a:t>
          </a:r>
          <a:r>
            <a:rPr lang="it-IT" sz="1400" kern="1200" dirty="0" err="1"/>
            <a:t>gravity</a:t>
          </a:r>
          <a:r>
            <a:rPr lang="it-IT" sz="1400" kern="1200" dirty="0"/>
            <a:t> information </a:t>
          </a:r>
          <a:r>
            <a:rPr lang="it-IT" sz="1400" kern="1200" dirty="0" err="1"/>
            <a:t>is</a:t>
          </a:r>
          <a:r>
            <a:rPr lang="it-IT" sz="1400" kern="1200" dirty="0"/>
            <a:t> </a:t>
          </a:r>
          <a:r>
            <a:rPr lang="it-IT" sz="1400" kern="1200" dirty="0" err="1"/>
            <a:t>then</a:t>
          </a:r>
          <a:r>
            <a:rPr lang="it-IT" sz="1400" kern="1200" dirty="0"/>
            <a:t> </a:t>
          </a:r>
          <a:r>
            <a:rPr lang="it-IT" sz="1400" b="1" kern="1200" dirty="0" err="1"/>
            <a:t>passed</a:t>
          </a:r>
          <a:r>
            <a:rPr lang="it-IT" sz="1400" b="1" kern="1200" dirty="0"/>
            <a:t> to the </a:t>
          </a:r>
          <a:r>
            <a:rPr lang="it-IT" sz="1400" b="1" kern="1200" dirty="0" err="1"/>
            <a:t>subsequent</a:t>
          </a:r>
          <a:r>
            <a:rPr lang="it-IT" sz="1400" b="1" kern="1200" dirty="0"/>
            <a:t> links</a:t>
          </a:r>
          <a:r>
            <a:rPr lang="it-IT" sz="1400" kern="1200" dirty="0"/>
            <a:t>, </a:t>
          </a:r>
          <a:r>
            <a:rPr lang="it-IT" sz="1400" kern="1200" dirty="0" err="1"/>
            <a:t>ensuring</a:t>
          </a:r>
          <a:r>
            <a:rPr lang="it-IT" sz="1400" kern="1200" dirty="0"/>
            <a:t> </a:t>
          </a:r>
          <a:r>
            <a:rPr lang="it-IT" sz="1400" kern="1200" dirty="0" err="1"/>
            <a:t>consistency</a:t>
          </a:r>
          <a:r>
            <a:rPr lang="it-IT" sz="1400" kern="1200" dirty="0"/>
            <a:t> in the </a:t>
          </a:r>
          <a:r>
            <a:rPr lang="it-IT" sz="1400" kern="1200" dirty="0" err="1"/>
            <a:t>dynamic</a:t>
          </a:r>
          <a:r>
            <a:rPr lang="it-IT" sz="1400" kern="1200" dirty="0"/>
            <a:t> </a:t>
          </a:r>
          <a:r>
            <a:rPr lang="it-IT" sz="1400" kern="1200" dirty="0" err="1"/>
            <a:t>computations</a:t>
          </a:r>
          <a:r>
            <a:rPr lang="it-IT" sz="1400" kern="1200" dirty="0"/>
            <a:t> </a:t>
          </a:r>
          <a:r>
            <a:rPr lang="it-IT" sz="1400" kern="1200" dirty="0" err="1"/>
            <a:t>along</a:t>
          </a:r>
          <a:r>
            <a:rPr lang="it-IT" sz="1400" kern="1200" dirty="0"/>
            <a:t> the </a:t>
          </a:r>
          <a:r>
            <a:rPr lang="it-IT" sz="1400" kern="1200" dirty="0" err="1"/>
            <a:t>kinematic</a:t>
          </a:r>
          <a:r>
            <a:rPr lang="it-IT" sz="1400" kern="1200" dirty="0"/>
            <a:t> chain.</a:t>
          </a:r>
        </a:p>
      </dsp:txBody>
      <dsp:txXfrm>
        <a:off x="36782" y="945255"/>
        <a:ext cx="4368970" cy="679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10426-C2BC-8548-8806-1132B5B6B4D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6B2E4-3FAA-9048-BF6E-5640BF1B93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463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6B2E4-3FAA-9048-BF6E-5640BF1B938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520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6B2E4-3FAA-9048-BF6E-5640BF1B938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4025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Aggiungere piccolo senso a </a:t>
            </a:r>
            <a:r>
              <a:rPr lang="it-IT" dirty="0" err="1"/>
              <a:t>lc</a:t>
            </a:r>
            <a:r>
              <a:rPr lang="it-IT" dirty="0"/>
              <a:t> e </a:t>
            </a:r>
            <a:r>
              <a:rPr lang="it-IT" dirty="0" err="1"/>
              <a:t>rc</a:t>
            </a:r>
            <a:r>
              <a:rPr lang="it-IT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6B2E4-3FAA-9048-BF6E-5640BF1B938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151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Clicca su omino per codice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6B2E4-3FAA-9048-BF6E-5640BF1B938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03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2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8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2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7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0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0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5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1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3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6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0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image" Target="../media/image20.png"/><Relationship Id="rId5" Type="http://schemas.openxmlformats.org/officeDocument/2006/relationships/diagramLayout" Target="../diagrams/layout5.xml"/><Relationship Id="rId10" Type="http://schemas.openxmlformats.org/officeDocument/2006/relationships/image" Target="../media/image10.svg"/><Relationship Id="rId4" Type="http://schemas.openxmlformats.org/officeDocument/2006/relationships/diagramData" Target="../diagrams/data5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Giocattoli robot che si stringono le mani">
            <a:extLst>
              <a:ext uri="{FF2B5EF4-FFF2-40B4-BE49-F238E27FC236}">
                <a16:creationId xmlns:a16="http://schemas.microsoft.com/office/drawing/2014/main" id="{CCC15139-649B-D81F-ABF6-751CFFCE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6" b="12727"/>
          <a:stretch>
            <a:fillRect/>
          </a:stretch>
        </p:blipFill>
        <p:spPr>
          <a:xfrm>
            <a:off x="0" y="118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0029AC-A314-2DA7-CD8B-A57650F61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74559"/>
            <a:ext cx="10628698" cy="2287023"/>
          </a:xfrm>
        </p:spPr>
        <p:txBody>
          <a:bodyPr anchor="ctr">
            <a:normAutofit/>
          </a:bodyPr>
          <a:lstStyle/>
          <a:p>
            <a:r>
              <a:rPr lang="it-IT" sz="4400" dirty="0">
                <a:latin typeface="Gill Sans Ultra Bold" panose="020B0A02020104020203" pitchFamily="34" charset="77"/>
              </a:rPr>
              <a:t>UR-5 Robot </a:t>
            </a:r>
            <a:r>
              <a:rPr lang="it-IT" sz="4400" dirty="0" err="1">
                <a:latin typeface="Gill Sans Ultra Bold" panose="020B0A02020104020203" pitchFamily="34" charset="77"/>
              </a:rPr>
              <a:t>Manipulator</a:t>
            </a:r>
            <a:endParaRPr lang="it-IT" sz="4400" dirty="0">
              <a:latin typeface="Gill Sans Ultra Bold" panose="020B0A02020104020203" pitchFamily="34" charset="77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9B6E4D-13CB-9478-EB2B-E6400195E158}"/>
              </a:ext>
            </a:extLst>
          </p:cNvPr>
          <p:cNvSpPr txBox="1"/>
          <p:nvPr/>
        </p:nvSpPr>
        <p:spPr>
          <a:xfrm>
            <a:off x="120316" y="5550410"/>
            <a:ext cx="2911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tx2"/>
                </a:solidFill>
              </a:rPr>
              <a:t>Alessio Canzolino</a:t>
            </a:r>
          </a:p>
          <a:p>
            <a:r>
              <a:rPr lang="it-IT" b="1" dirty="0">
                <a:solidFill>
                  <a:schemeClr val="tx2"/>
                </a:solidFill>
              </a:rPr>
              <a:t>Luigi Cuffaro </a:t>
            </a:r>
          </a:p>
          <a:p>
            <a:r>
              <a:rPr lang="it-IT" b="1" dirty="0">
                <a:solidFill>
                  <a:schemeClr val="tx2"/>
                </a:solidFill>
              </a:rPr>
              <a:t>Alessandro De Blasi</a:t>
            </a:r>
          </a:p>
          <a:p>
            <a:r>
              <a:rPr lang="it-IT" b="1" dirty="0">
                <a:solidFill>
                  <a:schemeClr val="tx2"/>
                </a:solidFill>
              </a:rPr>
              <a:t>Simone Romeo </a:t>
            </a:r>
          </a:p>
        </p:txBody>
      </p:sp>
    </p:spTree>
    <p:extLst>
      <p:ext uri="{BB962C8B-B14F-4D97-AF65-F5344CB8AC3E}">
        <p14:creationId xmlns:p14="http://schemas.microsoft.com/office/powerpoint/2010/main" val="308321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 descr="Immagine che contiene diagramma, testo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C412F7C5-8BDC-5340-AF20-8D62B34CF7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1" r="2" b="2"/>
          <a:stretch>
            <a:fillRect/>
          </a:stretch>
        </p:blipFill>
        <p:spPr>
          <a:xfrm>
            <a:off x="833630" y="953926"/>
            <a:ext cx="4104154" cy="5053104"/>
          </a:xfrm>
          <a:prstGeom prst="rect">
            <a:avLst/>
          </a:prstGeom>
        </p:spPr>
      </p:pic>
      <p:graphicFrame>
        <p:nvGraphicFramePr>
          <p:cNvPr id="14" name="Diagramma 13">
            <a:extLst>
              <a:ext uri="{FF2B5EF4-FFF2-40B4-BE49-F238E27FC236}">
                <a16:creationId xmlns:a16="http://schemas.microsoft.com/office/drawing/2014/main" id="{5C918742-16AE-EC63-E257-D3FD6190C2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970119"/>
              </p:ext>
            </p:extLst>
          </p:nvPr>
        </p:nvGraphicFramePr>
        <p:xfrm>
          <a:off x="5400675" y="1172028"/>
          <a:ext cx="5991225" cy="4696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E4502C83-EF41-7A5F-4A8C-53BF96211B60}"/>
              </a:ext>
            </a:extLst>
          </p:cNvPr>
          <p:cNvSpPr txBox="1">
            <a:spLocks/>
          </p:cNvSpPr>
          <p:nvPr/>
        </p:nvSpPr>
        <p:spPr>
          <a:xfrm>
            <a:off x="833630" y="67577"/>
            <a:ext cx="9710134" cy="6676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Project Description</a:t>
            </a:r>
            <a:endParaRPr lang="it-IT" sz="36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4103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D7E6693-DE7D-39D7-5BC4-8DD1A38FE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571" y="2344945"/>
            <a:ext cx="7772400" cy="21325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Immagine 5" descr="Immagine che contiene diagramma, testo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BD7B13A7-DE41-D3D7-5446-AB4E09260D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1" r="2" b="2"/>
          <a:stretch>
            <a:fillRect/>
          </a:stretch>
        </p:blipFill>
        <p:spPr>
          <a:xfrm>
            <a:off x="-451411" y="909645"/>
            <a:ext cx="4092463" cy="5038710"/>
          </a:xfrm>
          <a:prstGeom prst="rect">
            <a:avLst/>
          </a:prstGeom>
        </p:spPr>
      </p:pic>
      <p:pic>
        <p:nvPicPr>
          <p:cNvPr id="13" name="Elemento grafico 12" descr="Freccia: rotazione a sinistra contorno">
            <a:extLst>
              <a:ext uri="{FF2B5EF4-FFF2-40B4-BE49-F238E27FC236}">
                <a16:creationId xmlns:a16="http://schemas.microsoft.com/office/drawing/2014/main" id="{BBAA6FCF-DBE5-EB1C-74E7-85D7783ED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959888">
            <a:off x="3174888" y="4650208"/>
            <a:ext cx="1188618" cy="1188618"/>
          </a:xfrm>
          <a:prstGeom prst="rect">
            <a:avLst/>
          </a:prstGeom>
        </p:spPr>
      </p:pic>
      <p:sp>
        <p:nvSpPr>
          <p:cNvPr id="17" name="Titolo 1">
            <a:extLst>
              <a:ext uri="{FF2B5EF4-FFF2-40B4-BE49-F238E27FC236}">
                <a16:creationId xmlns:a16="http://schemas.microsoft.com/office/drawing/2014/main" id="{5890EB7D-9F76-385A-655E-A6ACBA4B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MODEL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031A36E2-C289-1A78-ADD1-96133D248F70}"/>
              </a:ext>
            </a:extLst>
          </p:cNvPr>
          <p:cNvSpPr/>
          <p:nvPr/>
        </p:nvSpPr>
        <p:spPr>
          <a:xfrm rot="5400000">
            <a:off x="4007013" y="2718141"/>
            <a:ext cx="670414" cy="1582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125028111">
                  <a:custGeom>
                    <a:avLst/>
                    <a:gdLst>
                      <a:gd name="connsiteX0" fmla="*/ 0 w 670414"/>
                      <a:gd name="connsiteY0" fmla="*/ 0 h 1582038"/>
                      <a:gd name="connsiteX1" fmla="*/ 670414 w 670414"/>
                      <a:gd name="connsiteY1" fmla="*/ 0 h 1582038"/>
                      <a:gd name="connsiteX2" fmla="*/ 670414 w 670414"/>
                      <a:gd name="connsiteY2" fmla="*/ 495705 h 1582038"/>
                      <a:gd name="connsiteX3" fmla="*/ 670414 w 670414"/>
                      <a:gd name="connsiteY3" fmla="*/ 1023051 h 1582038"/>
                      <a:gd name="connsiteX4" fmla="*/ 670414 w 670414"/>
                      <a:gd name="connsiteY4" fmla="*/ 1582038 h 1582038"/>
                      <a:gd name="connsiteX5" fmla="*/ 0 w 670414"/>
                      <a:gd name="connsiteY5" fmla="*/ 1582038 h 1582038"/>
                      <a:gd name="connsiteX6" fmla="*/ 0 w 670414"/>
                      <a:gd name="connsiteY6" fmla="*/ 1070512 h 1582038"/>
                      <a:gd name="connsiteX7" fmla="*/ 0 w 670414"/>
                      <a:gd name="connsiteY7" fmla="*/ 558987 h 1582038"/>
                      <a:gd name="connsiteX8" fmla="*/ 0 w 670414"/>
                      <a:gd name="connsiteY8" fmla="*/ 0 h 1582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70414" h="1582038" extrusionOk="0">
                        <a:moveTo>
                          <a:pt x="0" y="0"/>
                        </a:moveTo>
                        <a:cubicBezTo>
                          <a:pt x="253689" y="-6744"/>
                          <a:pt x="493545" y="29767"/>
                          <a:pt x="670414" y="0"/>
                        </a:cubicBezTo>
                        <a:cubicBezTo>
                          <a:pt x="675906" y="236652"/>
                          <a:pt x="651995" y="378606"/>
                          <a:pt x="670414" y="495705"/>
                        </a:cubicBezTo>
                        <a:cubicBezTo>
                          <a:pt x="688833" y="612805"/>
                          <a:pt x="691782" y="825364"/>
                          <a:pt x="670414" y="1023051"/>
                        </a:cubicBezTo>
                        <a:cubicBezTo>
                          <a:pt x="649046" y="1220738"/>
                          <a:pt x="673663" y="1384800"/>
                          <a:pt x="670414" y="1582038"/>
                        </a:cubicBezTo>
                        <a:cubicBezTo>
                          <a:pt x="488483" y="1580194"/>
                          <a:pt x="168531" y="1597013"/>
                          <a:pt x="0" y="1582038"/>
                        </a:cubicBezTo>
                        <a:cubicBezTo>
                          <a:pt x="4448" y="1421770"/>
                          <a:pt x="25322" y="1238876"/>
                          <a:pt x="0" y="1070512"/>
                        </a:cubicBezTo>
                        <a:cubicBezTo>
                          <a:pt x="-25322" y="902148"/>
                          <a:pt x="-5333" y="745361"/>
                          <a:pt x="0" y="558987"/>
                        </a:cubicBezTo>
                        <a:cubicBezTo>
                          <a:pt x="5333" y="372613"/>
                          <a:pt x="-8173" y="2293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317A4385-96CE-DCA5-1110-463CAD260B10}"/>
              </a:ext>
            </a:extLst>
          </p:cNvPr>
          <p:cNvSpPr txBox="1"/>
          <p:nvPr/>
        </p:nvSpPr>
        <p:spPr>
          <a:xfrm>
            <a:off x="3767678" y="2607180"/>
            <a:ext cx="194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Phosphate Inline" panose="02000506050000020004" pitchFamily="2" charset="77"/>
                <a:cs typeface="Phosphate Inline" panose="02000506050000020004" pitchFamily="2" charset="77"/>
              </a:rPr>
              <a:t>Pid</a:t>
            </a:r>
            <a:r>
              <a:rPr lang="it-IT" dirty="0">
                <a:latin typeface="Phosphate Inline" panose="02000506050000020004" pitchFamily="2" charset="77"/>
                <a:cs typeface="Phosphate Inline" panose="02000506050000020004" pitchFamily="2" charset="77"/>
              </a:rPr>
              <a:t> controller 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25E95A4B-E329-3C6D-9AF7-48A8C5FF384D}"/>
              </a:ext>
            </a:extLst>
          </p:cNvPr>
          <p:cNvSpPr txBox="1"/>
          <p:nvPr/>
        </p:nvSpPr>
        <p:spPr>
          <a:xfrm>
            <a:off x="5241697" y="4678530"/>
            <a:ext cx="1574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Phosphate Inline" panose="02000506050000020004" pitchFamily="2" charset="77"/>
                <a:cs typeface="Phosphate Inline" panose="02000506050000020004" pitchFamily="2" charset="77"/>
              </a:rPr>
              <a:t>Harmonic</a:t>
            </a:r>
            <a:r>
              <a:rPr lang="it-IT" dirty="0">
                <a:latin typeface="Phosphate Inline" panose="02000506050000020004" pitchFamily="2" charset="77"/>
                <a:cs typeface="Phosphate Inline" panose="02000506050000020004" pitchFamily="2" charset="77"/>
              </a:rPr>
              <a:t> drive</a:t>
            </a:r>
          </a:p>
        </p:txBody>
      </p:sp>
      <p:sp>
        <p:nvSpPr>
          <p:cNvPr id="59" name="Freccia ad arco 58">
            <a:extLst>
              <a:ext uri="{FF2B5EF4-FFF2-40B4-BE49-F238E27FC236}">
                <a16:creationId xmlns:a16="http://schemas.microsoft.com/office/drawing/2014/main" id="{ACFC62BF-727B-9418-8AE7-E1773D384B83}"/>
              </a:ext>
            </a:extLst>
          </p:cNvPr>
          <p:cNvSpPr/>
          <p:nvPr/>
        </p:nvSpPr>
        <p:spPr>
          <a:xfrm rot="4958162">
            <a:off x="5854921" y="3653703"/>
            <a:ext cx="1324915" cy="1130783"/>
          </a:xfrm>
          <a:prstGeom prst="circularArrow">
            <a:avLst>
              <a:gd name="adj1" fmla="val 6661"/>
              <a:gd name="adj2" fmla="val 1142319"/>
              <a:gd name="adj3" fmla="val 20514354"/>
              <a:gd name="adj4" fmla="val 12308508"/>
              <a:gd name="adj5" fmla="val 125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58DCEB4-7ADC-BF03-BBA8-91A43D0ED188}"/>
              </a:ext>
            </a:extLst>
          </p:cNvPr>
          <p:cNvSpPr txBox="1"/>
          <p:nvPr/>
        </p:nvSpPr>
        <p:spPr>
          <a:xfrm>
            <a:off x="7164692" y="4745925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Phosphate Inline" panose="02000506050000020004" pitchFamily="2" charset="77"/>
                <a:cs typeface="Phosphate Inline" panose="02000506050000020004" pitchFamily="2" charset="77"/>
              </a:rPr>
              <a:t>Joint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FAA0A660-8A3C-CBD2-4FBE-716478615EC7}"/>
              </a:ext>
            </a:extLst>
          </p:cNvPr>
          <p:cNvSpPr txBox="1"/>
          <p:nvPr/>
        </p:nvSpPr>
        <p:spPr>
          <a:xfrm>
            <a:off x="8996575" y="1977548"/>
            <a:ext cx="66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hosphate Inline" panose="02000506050000020004" pitchFamily="2" charset="77"/>
                <a:cs typeface="Phosphate Inline" panose="02000506050000020004" pitchFamily="2" charset="77"/>
              </a:rPr>
              <a:t>Link</a:t>
            </a:r>
          </a:p>
        </p:txBody>
      </p:sp>
      <p:sp>
        <p:nvSpPr>
          <p:cNvPr id="62" name="Freccia ad arco 61">
            <a:extLst>
              <a:ext uri="{FF2B5EF4-FFF2-40B4-BE49-F238E27FC236}">
                <a16:creationId xmlns:a16="http://schemas.microsoft.com/office/drawing/2014/main" id="{F59ECA64-D3E3-45CB-0EF8-872CE1D54B05}"/>
              </a:ext>
            </a:extLst>
          </p:cNvPr>
          <p:cNvSpPr/>
          <p:nvPr/>
        </p:nvSpPr>
        <p:spPr>
          <a:xfrm rot="4446316">
            <a:off x="6964188" y="3514608"/>
            <a:ext cx="1488753" cy="1560768"/>
          </a:xfrm>
          <a:prstGeom prst="circularArrow">
            <a:avLst>
              <a:gd name="adj1" fmla="val 6661"/>
              <a:gd name="adj2" fmla="val 1142319"/>
              <a:gd name="adj3" fmla="val 20514354"/>
              <a:gd name="adj4" fmla="val 14163019"/>
              <a:gd name="adj5" fmla="val 125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3" name="Freccia ad arco 62">
            <a:extLst>
              <a:ext uri="{FF2B5EF4-FFF2-40B4-BE49-F238E27FC236}">
                <a16:creationId xmlns:a16="http://schemas.microsoft.com/office/drawing/2014/main" id="{AB973365-CA97-6598-466F-18DF606F3BDF}"/>
              </a:ext>
            </a:extLst>
          </p:cNvPr>
          <p:cNvSpPr/>
          <p:nvPr/>
        </p:nvSpPr>
        <p:spPr>
          <a:xfrm rot="16745658">
            <a:off x="8301224" y="2047119"/>
            <a:ext cx="1287126" cy="1258360"/>
          </a:xfrm>
          <a:prstGeom prst="circularArrow">
            <a:avLst>
              <a:gd name="adj1" fmla="val 6661"/>
              <a:gd name="adj2" fmla="val 1142319"/>
              <a:gd name="adj3" fmla="val 20514354"/>
              <a:gd name="adj4" fmla="val 9991247"/>
              <a:gd name="adj5" fmla="val 125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4" name="Freccia ad arco 63">
            <a:extLst>
              <a:ext uri="{FF2B5EF4-FFF2-40B4-BE49-F238E27FC236}">
                <a16:creationId xmlns:a16="http://schemas.microsoft.com/office/drawing/2014/main" id="{0D58839C-D4BD-4A73-4E92-D6D45F65C0F6}"/>
              </a:ext>
            </a:extLst>
          </p:cNvPr>
          <p:cNvSpPr/>
          <p:nvPr/>
        </p:nvSpPr>
        <p:spPr>
          <a:xfrm rot="4456756">
            <a:off x="9827166" y="3333917"/>
            <a:ext cx="1711279" cy="1689918"/>
          </a:xfrm>
          <a:prstGeom prst="circularArrow">
            <a:avLst>
              <a:gd name="adj1" fmla="val 5044"/>
              <a:gd name="adj2" fmla="val 1142319"/>
              <a:gd name="adj3" fmla="val 20122687"/>
              <a:gd name="adj4" fmla="val 15055791"/>
              <a:gd name="adj5" fmla="val 125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A75ABD12-B0C9-F27C-9D24-FE8AFE347454}"/>
              </a:ext>
            </a:extLst>
          </p:cNvPr>
          <p:cNvSpPr txBox="1"/>
          <p:nvPr/>
        </p:nvSpPr>
        <p:spPr>
          <a:xfrm>
            <a:off x="8844843" y="4815544"/>
            <a:ext cx="344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Phosphate Inline" panose="02000506050000020004" pitchFamily="2" charset="77"/>
                <a:cs typeface="Phosphate Inline" panose="02000506050000020004" pitchFamily="2" charset="77"/>
              </a:rPr>
              <a:t>Homogeneous</a:t>
            </a:r>
            <a:r>
              <a:rPr lang="it-IT" dirty="0">
                <a:latin typeface="Phosphate Inline" panose="02000506050000020004" pitchFamily="2" charset="77"/>
                <a:cs typeface="Phosphate Inline" panose="02000506050000020004" pitchFamily="2" charset="77"/>
              </a:rPr>
              <a:t> </a:t>
            </a:r>
            <a:r>
              <a:rPr lang="it-IT" dirty="0" err="1">
                <a:latin typeface="Phosphate Inline" panose="02000506050000020004" pitchFamily="2" charset="77"/>
                <a:cs typeface="Phosphate Inline" panose="02000506050000020004" pitchFamily="2" charset="77"/>
              </a:rPr>
              <a:t>traformation</a:t>
            </a:r>
            <a:endParaRPr lang="it-IT" dirty="0">
              <a:latin typeface="Phosphate Inline" panose="02000506050000020004" pitchFamily="2" charset="77"/>
              <a:cs typeface="Phosphate Inline" panose="02000506050000020004" pitchFamily="2" charset="77"/>
            </a:endParaRPr>
          </a:p>
        </p:txBody>
      </p:sp>
      <p:pic>
        <p:nvPicPr>
          <p:cNvPr id="3" name="Immagine 2" descr="Immagine che contiene diagramma, testo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E79CC942-A960-FC1F-3ACE-0B593E84E7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592" y="1121366"/>
            <a:ext cx="2823625" cy="5038710"/>
          </a:xfrm>
          <a:prstGeom prst="rect">
            <a:avLst/>
          </a:prstGeom>
        </p:spPr>
      </p:pic>
      <p:sp>
        <p:nvSpPr>
          <p:cNvPr id="56" name="Freccia ad arco 55">
            <a:extLst>
              <a:ext uri="{FF2B5EF4-FFF2-40B4-BE49-F238E27FC236}">
                <a16:creationId xmlns:a16="http://schemas.microsoft.com/office/drawing/2014/main" id="{E8351999-49FD-DD8A-3535-F6362591314E}"/>
              </a:ext>
            </a:extLst>
          </p:cNvPr>
          <p:cNvSpPr/>
          <p:nvPr/>
        </p:nvSpPr>
        <p:spPr>
          <a:xfrm rot="18582892">
            <a:off x="3187184" y="2627465"/>
            <a:ext cx="766934" cy="771999"/>
          </a:xfrm>
          <a:prstGeom prst="circularArrow">
            <a:avLst>
              <a:gd name="adj1" fmla="val 6661"/>
              <a:gd name="adj2" fmla="val 1142319"/>
              <a:gd name="adj3" fmla="val 20514354"/>
              <a:gd name="adj4" fmla="val 10859987"/>
              <a:gd name="adj5" fmla="val 12500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48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/>
      <p:bldP spid="58" grpId="0"/>
      <p:bldP spid="59" grpId="0" animBg="1"/>
      <p:bldP spid="60" grpId="0"/>
      <p:bldP spid="61" grpId="0"/>
      <p:bldP spid="62" grpId="0" animBg="1"/>
      <p:bldP spid="63" grpId="0" animBg="1"/>
      <p:bldP spid="64" grpId="0" animBg="1"/>
      <p:bldP spid="65" grpId="0"/>
      <p:bldP spid="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2EB77FB3-AB61-EFAD-C261-BB4EEA22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Harmonic</a:t>
            </a:r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 drive: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description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04586F6-C329-74E3-EB99-1DAC3B29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394" y="2286000"/>
            <a:ext cx="3535559" cy="22859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aphicFrame>
        <p:nvGraphicFramePr>
          <p:cNvPr id="8" name="CasellaDiTesto 5">
            <a:extLst>
              <a:ext uri="{FF2B5EF4-FFF2-40B4-BE49-F238E27FC236}">
                <a16:creationId xmlns:a16="http://schemas.microsoft.com/office/drawing/2014/main" id="{27405F26-E49B-7B09-CD01-F4274F8C63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1056667"/>
              </p:ext>
            </p:extLst>
          </p:nvPr>
        </p:nvGraphicFramePr>
        <p:xfrm>
          <a:off x="165889" y="1305341"/>
          <a:ext cx="8240013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e 6">
            <a:extLst>
              <a:ext uri="{FF2B5EF4-FFF2-40B4-BE49-F238E27FC236}">
                <a16:creationId xmlns:a16="http://schemas.microsoft.com/office/drawing/2014/main" id="{F27008A2-195F-D4F7-A4E0-74904B4C9C7B}"/>
              </a:ext>
            </a:extLst>
          </p:cNvPr>
          <p:cNvSpPr/>
          <p:nvPr/>
        </p:nvSpPr>
        <p:spPr>
          <a:xfrm>
            <a:off x="9006281" y="2179859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41C6B1E5-E930-92C0-0184-EC9D20DD5456}"/>
              </a:ext>
            </a:extLst>
          </p:cNvPr>
          <p:cNvSpPr/>
          <p:nvPr/>
        </p:nvSpPr>
        <p:spPr>
          <a:xfrm>
            <a:off x="9303990" y="3555427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ABCB4B7C-FE88-DD55-96DF-0EDD86523F37}"/>
              </a:ext>
            </a:extLst>
          </p:cNvPr>
          <p:cNvSpPr/>
          <p:nvPr/>
        </p:nvSpPr>
        <p:spPr>
          <a:xfrm>
            <a:off x="9715111" y="2315775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098CF6E1-73AC-5EBC-B6E8-AF61B3A2CC43}"/>
              </a:ext>
            </a:extLst>
          </p:cNvPr>
          <p:cNvSpPr/>
          <p:nvPr/>
        </p:nvSpPr>
        <p:spPr>
          <a:xfrm>
            <a:off x="9843527" y="4137074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63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582A-0D22-930C-02F4-6BE35754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38A47AE-FEA5-19D5-E284-B299E1A3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Harmonic</a:t>
            </a:r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 drive: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elements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336F753-CFC0-5C4D-BD95-34E45D2D9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5" y="1886673"/>
            <a:ext cx="4770769" cy="30846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65B55C47-0340-8A12-3434-9F768F2CBC56}"/>
              </a:ext>
            </a:extLst>
          </p:cNvPr>
          <p:cNvSpPr/>
          <p:nvPr/>
        </p:nvSpPr>
        <p:spPr>
          <a:xfrm>
            <a:off x="4411132" y="1966752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171D54BA-4ABE-ED89-9446-62DF52277B87}"/>
              </a:ext>
            </a:extLst>
          </p:cNvPr>
          <p:cNvSpPr/>
          <p:nvPr/>
        </p:nvSpPr>
        <p:spPr>
          <a:xfrm>
            <a:off x="4778289" y="3768192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41452275-1F50-8DB9-A0DF-399E6A5CDED9}"/>
              </a:ext>
            </a:extLst>
          </p:cNvPr>
          <p:cNvSpPr/>
          <p:nvPr/>
        </p:nvSpPr>
        <p:spPr>
          <a:xfrm>
            <a:off x="5278122" y="1961720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36B1F313-265B-DA84-91E2-BDDCE66D1DE1}"/>
              </a:ext>
            </a:extLst>
          </p:cNvPr>
          <p:cNvSpPr/>
          <p:nvPr/>
        </p:nvSpPr>
        <p:spPr>
          <a:xfrm>
            <a:off x="5550094" y="4417485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igura a mano libera 16">
            <a:extLst>
              <a:ext uri="{FF2B5EF4-FFF2-40B4-BE49-F238E27FC236}">
                <a16:creationId xmlns:a16="http://schemas.microsoft.com/office/drawing/2014/main" id="{C10CB2B8-7BAF-D7B1-8A40-15B0FAB9DF27}"/>
              </a:ext>
            </a:extLst>
          </p:cNvPr>
          <p:cNvSpPr/>
          <p:nvPr/>
        </p:nvSpPr>
        <p:spPr>
          <a:xfrm>
            <a:off x="1284790" y="4363656"/>
            <a:ext cx="3646025" cy="1377387"/>
          </a:xfrm>
          <a:custGeom>
            <a:avLst/>
            <a:gdLst>
              <a:gd name="connsiteX0" fmla="*/ 3646025 w 3646025"/>
              <a:gd name="connsiteY0" fmla="*/ 0 h 1377387"/>
              <a:gd name="connsiteX1" fmla="*/ 3622876 w 3646025"/>
              <a:gd name="connsiteY1" fmla="*/ 752354 h 1377387"/>
              <a:gd name="connsiteX2" fmla="*/ 3483980 w 3646025"/>
              <a:gd name="connsiteY2" fmla="*/ 1006997 h 1377387"/>
              <a:gd name="connsiteX3" fmla="*/ 3391382 w 3646025"/>
              <a:gd name="connsiteY3" fmla="*/ 1099595 h 1377387"/>
              <a:gd name="connsiteX4" fmla="*/ 3264061 w 3646025"/>
              <a:gd name="connsiteY4" fmla="*/ 1192192 h 1377387"/>
              <a:gd name="connsiteX5" fmla="*/ 2939969 w 3646025"/>
              <a:gd name="connsiteY5" fmla="*/ 1307939 h 1377387"/>
              <a:gd name="connsiteX6" fmla="*/ 2395959 w 3646025"/>
              <a:gd name="connsiteY6" fmla="*/ 1365812 h 1377387"/>
              <a:gd name="connsiteX7" fmla="*/ 2095018 w 3646025"/>
              <a:gd name="connsiteY7" fmla="*/ 1377387 h 1377387"/>
              <a:gd name="connsiteX8" fmla="*/ 1388962 w 3646025"/>
              <a:gd name="connsiteY8" fmla="*/ 1354238 h 1377387"/>
              <a:gd name="connsiteX9" fmla="*/ 1076445 w 3646025"/>
              <a:gd name="connsiteY9" fmla="*/ 1284790 h 1377387"/>
              <a:gd name="connsiteX10" fmla="*/ 763929 w 3646025"/>
              <a:gd name="connsiteY10" fmla="*/ 1192192 h 1377387"/>
              <a:gd name="connsiteX11" fmla="*/ 300942 w 3646025"/>
              <a:gd name="connsiteY11" fmla="*/ 995422 h 1377387"/>
              <a:gd name="connsiteX12" fmla="*/ 23149 w 3646025"/>
              <a:gd name="connsiteY12" fmla="*/ 810228 h 1377387"/>
              <a:gd name="connsiteX13" fmla="*/ 0 w 3646025"/>
              <a:gd name="connsiteY13" fmla="*/ 787078 h 1377387"/>
              <a:gd name="connsiteX14" fmla="*/ 46299 w 3646025"/>
              <a:gd name="connsiteY14" fmla="*/ 775503 h 1377387"/>
              <a:gd name="connsiteX15" fmla="*/ 92597 w 3646025"/>
              <a:gd name="connsiteY15" fmla="*/ 787078 h 1377387"/>
              <a:gd name="connsiteX16" fmla="*/ 208344 w 3646025"/>
              <a:gd name="connsiteY16" fmla="*/ 821802 h 1377387"/>
              <a:gd name="connsiteX17" fmla="*/ 266218 w 3646025"/>
              <a:gd name="connsiteY17" fmla="*/ 833377 h 1377387"/>
              <a:gd name="connsiteX18" fmla="*/ 324091 w 3646025"/>
              <a:gd name="connsiteY18" fmla="*/ 856526 h 1377387"/>
              <a:gd name="connsiteX19" fmla="*/ 381964 w 3646025"/>
              <a:gd name="connsiteY19" fmla="*/ 868101 h 1377387"/>
              <a:gd name="connsiteX20" fmla="*/ 474562 w 3646025"/>
              <a:gd name="connsiteY20" fmla="*/ 902825 h 1377387"/>
              <a:gd name="connsiteX21" fmla="*/ 532435 w 3646025"/>
              <a:gd name="connsiteY21" fmla="*/ 914400 h 1377387"/>
              <a:gd name="connsiteX22" fmla="*/ 578734 w 3646025"/>
              <a:gd name="connsiteY22" fmla="*/ 925974 h 1377387"/>
              <a:gd name="connsiteX23" fmla="*/ 648182 w 3646025"/>
              <a:gd name="connsiteY23" fmla="*/ 949124 h 137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46025" h="1377387">
                <a:moveTo>
                  <a:pt x="3646025" y="0"/>
                </a:moveTo>
                <a:cubicBezTo>
                  <a:pt x="3638309" y="250785"/>
                  <a:pt x="3645592" y="502481"/>
                  <a:pt x="3622876" y="752354"/>
                </a:cubicBezTo>
                <a:cubicBezTo>
                  <a:pt x="3616299" y="824704"/>
                  <a:pt x="3528591" y="953464"/>
                  <a:pt x="3483980" y="1006997"/>
                </a:cubicBezTo>
                <a:cubicBezTo>
                  <a:pt x="3456035" y="1040531"/>
                  <a:pt x="3424771" y="1071478"/>
                  <a:pt x="3391382" y="1099595"/>
                </a:cubicBezTo>
                <a:cubicBezTo>
                  <a:pt x="3351241" y="1133398"/>
                  <a:pt x="3309390" y="1165750"/>
                  <a:pt x="3264061" y="1192192"/>
                </a:cubicBezTo>
                <a:cubicBezTo>
                  <a:pt x="3160704" y="1252483"/>
                  <a:pt x="3056916" y="1284549"/>
                  <a:pt x="2939969" y="1307939"/>
                </a:cubicBezTo>
                <a:cubicBezTo>
                  <a:pt x="2757432" y="1344447"/>
                  <a:pt x="2582459" y="1355255"/>
                  <a:pt x="2395959" y="1365812"/>
                </a:cubicBezTo>
                <a:cubicBezTo>
                  <a:pt x="2295732" y="1371485"/>
                  <a:pt x="2195332" y="1373529"/>
                  <a:pt x="2095018" y="1377387"/>
                </a:cubicBezTo>
                <a:cubicBezTo>
                  <a:pt x="1859666" y="1369671"/>
                  <a:pt x="1623473" y="1375557"/>
                  <a:pt x="1388962" y="1354238"/>
                </a:cubicBezTo>
                <a:cubicBezTo>
                  <a:pt x="1282687" y="1344577"/>
                  <a:pt x="1179743" y="1311571"/>
                  <a:pt x="1076445" y="1284790"/>
                </a:cubicBezTo>
                <a:cubicBezTo>
                  <a:pt x="971274" y="1257523"/>
                  <a:pt x="867002" y="1226550"/>
                  <a:pt x="763929" y="1192192"/>
                </a:cubicBezTo>
                <a:cubicBezTo>
                  <a:pt x="599062" y="1137236"/>
                  <a:pt x="450679" y="1080986"/>
                  <a:pt x="300942" y="995422"/>
                </a:cubicBezTo>
                <a:cubicBezTo>
                  <a:pt x="199004" y="937172"/>
                  <a:pt x="109159" y="883950"/>
                  <a:pt x="23149" y="810228"/>
                </a:cubicBezTo>
                <a:cubicBezTo>
                  <a:pt x="14863" y="803126"/>
                  <a:pt x="7716" y="794795"/>
                  <a:pt x="0" y="787078"/>
                </a:cubicBezTo>
                <a:cubicBezTo>
                  <a:pt x="15433" y="783220"/>
                  <a:pt x="30391" y="775503"/>
                  <a:pt x="46299" y="775503"/>
                </a:cubicBezTo>
                <a:cubicBezTo>
                  <a:pt x="62207" y="775503"/>
                  <a:pt x="77068" y="783627"/>
                  <a:pt x="92597" y="787078"/>
                </a:cubicBezTo>
                <a:cubicBezTo>
                  <a:pt x="285906" y="830037"/>
                  <a:pt x="10689" y="762506"/>
                  <a:pt x="208344" y="821802"/>
                </a:cubicBezTo>
                <a:cubicBezTo>
                  <a:pt x="227188" y="827455"/>
                  <a:pt x="247374" y="827724"/>
                  <a:pt x="266218" y="833377"/>
                </a:cubicBezTo>
                <a:cubicBezTo>
                  <a:pt x="286119" y="839347"/>
                  <a:pt x="304190" y="850556"/>
                  <a:pt x="324091" y="856526"/>
                </a:cubicBezTo>
                <a:cubicBezTo>
                  <a:pt x="342934" y="862179"/>
                  <a:pt x="363121" y="862448"/>
                  <a:pt x="381964" y="868101"/>
                </a:cubicBezTo>
                <a:cubicBezTo>
                  <a:pt x="435052" y="884027"/>
                  <a:pt x="429590" y="891582"/>
                  <a:pt x="474562" y="902825"/>
                </a:cubicBezTo>
                <a:cubicBezTo>
                  <a:pt x="493648" y="907597"/>
                  <a:pt x="513230" y="910132"/>
                  <a:pt x="532435" y="914400"/>
                </a:cubicBezTo>
                <a:cubicBezTo>
                  <a:pt x="547964" y="917851"/>
                  <a:pt x="563301" y="922116"/>
                  <a:pt x="578734" y="925974"/>
                </a:cubicBezTo>
                <a:cubicBezTo>
                  <a:pt x="631935" y="952575"/>
                  <a:pt x="607778" y="949124"/>
                  <a:pt x="648182" y="949124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curva 18">
            <a:extLst>
              <a:ext uri="{FF2B5EF4-FFF2-40B4-BE49-F238E27FC236}">
                <a16:creationId xmlns:a16="http://schemas.microsoft.com/office/drawing/2014/main" id="{859152AD-3F29-CCE5-1467-69E67CEB6B3E}"/>
              </a:ext>
            </a:extLst>
          </p:cNvPr>
          <p:cNvSpPr/>
          <p:nvPr/>
        </p:nvSpPr>
        <p:spPr>
          <a:xfrm rot="11155346">
            <a:off x="3122090" y="4204417"/>
            <a:ext cx="1849684" cy="1693975"/>
          </a:xfrm>
          <a:prstGeom prst="bentArrow">
            <a:avLst>
              <a:gd name="adj1" fmla="val 5762"/>
              <a:gd name="adj2" fmla="val 14766"/>
              <a:gd name="adj3" fmla="val 25000"/>
              <a:gd name="adj4" fmla="val 47191"/>
            </a:avLst>
          </a:prstGeom>
          <a:solidFill>
            <a:srgbClr val="00B0F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0" name="Freccia curva 19">
            <a:extLst>
              <a:ext uri="{FF2B5EF4-FFF2-40B4-BE49-F238E27FC236}">
                <a16:creationId xmlns:a16="http://schemas.microsoft.com/office/drawing/2014/main" id="{5A88635A-2DAB-4B18-197D-5AFB4FAA4355}"/>
              </a:ext>
            </a:extLst>
          </p:cNvPr>
          <p:cNvSpPr/>
          <p:nvPr/>
        </p:nvSpPr>
        <p:spPr>
          <a:xfrm rot="21347446" flipV="1">
            <a:off x="5858671" y="4847198"/>
            <a:ext cx="3503158" cy="1017973"/>
          </a:xfrm>
          <a:prstGeom prst="bentArrow">
            <a:avLst>
              <a:gd name="adj1" fmla="val 9456"/>
              <a:gd name="adj2" fmla="val 15527"/>
              <a:gd name="adj3" fmla="val 32959"/>
              <a:gd name="adj4" fmla="val 89201"/>
            </a:avLst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1" name="Freccia curva 20">
            <a:extLst>
              <a:ext uri="{FF2B5EF4-FFF2-40B4-BE49-F238E27FC236}">
                <a16:creationId xmlns:a16="http://schemas.microsoft.com/office/drawing/2014/main" id="{A2EF2B62-2CE9-789C-EAF6-8C6DAED212D1}"/>
              </a:ext>
            </a:extLst>
          </p:cNvPr>
          <p:cNvSpPr/>
          <p:nvPr/>
        </p:nvSpPr>
        <p:spPr>
          <a:xfrm rot="987824">
            <a:off x="5771399" y="717558"/>
            <a:ext cx="2810331" cy="1693975"/>
          </a:xfrm>
          <a:prstGeom prst="bentArrow">
            <a:avLst>
              <a:gd name="adj1" fmla="val 5762"/>
              <a:gd name="adj2" fmla="val 14766"/>
              <a:gd name="adj3" fmla="val 25000"/>
              <a:gd name="adj4" fmla="val 72659"/>
            </a:avLst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2" name="Freccia curva 21">
            <a:extLst>
              <a:ext uri="{FF2B5EF4-FFF2-40B4-BE49-F238E27FC236}">
                <a16:creationId xmlns:a16="http://schemas.microsoft.com/office/drawing/2014/main" id="{D69C4A69-41A3-51F7-03DB-2CF572CBD88B}"/>
              </a:ext>
            </a:extLst>
          </p:cNvPr>
          <p:cNvSpPr/>
          <p:nvPr/>
        </p:nvSpPr>
        <p:spPr>
          <a:xfrm rot="10227665" flipV="1">
            <a:off x="2896888" y="1097004"/>
            <a:ext cx="1706450" cy="1017973"/>
          </a:xfrm>
          <a:prstGeom prst="bentArrow">
            <a:avLst>
              <a:gd name="adj1" fmla="val 9456"/>
              <a:gd name="adj2" fmla="val 15527"/>
              <a:gd name="adj3" fmla="val 32959"/>
              <a:gd name="adj4" fmla="val 89201"/>
            </a:avLst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5" name="Elaborazione alternativa 24">
            <a:extLst>
              <a:ext uri="{FF2B5EF4-FFF2-40B4-BE49-F238E27FC236}">
                <a16:creationId xmlns:a16="http://schemas.microsoft.com/office/drawing/2014/main" id="{C0EF0732-BFEE-A648-991F-D671AE24DC2B}"/>
              </a:ext>
            </a:extLst>
          </p:cNvPr>
          <p:cNvSpPr/>
          <p:nvPr/>
        </p:nvSpPr>
        <p:spPr>
          <a:xfrm>
            <a:off x="93478" y="1116957"/>
            <a:ext cx="2655347" cy="1793647"/>
          </a:xfrm>
          <a:prstGeom prst="flowChartAlternateProcess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The </a:t>
            </a:r>
            <a:r>
              <a:rPr lang="it-IT" dirty="0" err="1"/>
              <a:t>bearing</a:t>
            </a:r>
            <a:r>
              <a:rPr lang="it-IT" dirty="0"/>
              <a:t> </a:t>
            </a:r>
            <a:r>
              <a:rPr lang="it-IT" dirty="0" err="1"/>
              <a:t>friction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modeled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combination</a:t>
            </a:r>
            <a:r>
              <a:rPr lang="it-IT" dirty="0"/>
              <a:t> of </a:t>
            </a:r>
            <a:r>
              <a:rPr lang="it-IT" b="1" dirty="0" err="1"/>
              <a:t>viscous</a:t>
            </a:r>
            <a:r>
              <a:rPr lang="it-IT" dirty="0"/>
              <a:t> and </a:t>
            </a:r>
            <a:r>
              <a:rPr lang="it-IT" b="1" dirty="0"/>
              <a:t>Coulomb </a:t>
            </a:r>
            <a:r>
              <a:rPr lang="it-IT" b="1" dirty="0" err="1"/>
              <a:t>friction</a:t>
            </a:r>
            <a:r>
              <a:rPr lang="it-IT" dirty="0"/>
              <a:t>.</a:t>
            </a:r>
          </a:p>
          <a:p>
            <a:pPr algn="ctr"/>
            <a:endParaRPr lang="it-IT" dirty="0"/>
          </a:p>
        </p:txBody>
      </p:sp>
      <p:sp>
        <p:nvSpPr>
          <p:cNvPr id="26" name="Elaborazione alternativa 25">
            <a:extLst>
              <a:ext uri="{FF2B5EF4-FFF2-40B4-BE49-F238E27FC236}">
                <a16:creationId xmlns:a16="http://schemas.microsoft.com/office/drawing/2014/main" id="{F6833107-973F-6051-42DA-0B1B5948027C}"/>
              </a:ext>
            </a:extLst>
          </p:cNvPr>
          <p:cNvSpPr/>
          <p:nvPr/>
        </p:nvSpPr>
        <p:spPr>
          <a:xfrm>
            <a:off x="8764161" y="1241170"/>
            <a:ext cx="2655347" cy="1793647"/>
          </a:xfrm>
          <a:prstGeom prst="flowChartAlternateProcess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The </a:t>
            </a:r>
            <a:r>
              <a:rPr lang="it-IT" dirty="0" err="1"/>
              <a:t>rotating</a:t>
            </a:r>
            <a:r>
              <a:rPr lang="it-IT" dirty="0"/>
              <a:t> mass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represented</a:t>
            </a:r>
            <a:r>
              <a:rPr lang="it-IT" dirty="0"/>
              <a:t> by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inertia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plays a key </a:t>
            </a:r>
            <a:r>
              <a:rPr lang="it-IT" dirty="0" err="1"/>
              <a:t>role</a:t>
            </a:r>
            <a:r>
              <a:rPr lang="it-IT" dirty="0"/>
              <a:t> in the system dynamics.</a:t>
            </a:r>
          </a:p>
        </p:txBody>
      </p:sp>
      <p:sp>
        <p:nvSpPr>
          <p:cNvPr id="31" name="Elaborazione alternativa 30">
            <a:extLst>
              <a:ext uri="{FF2B5EF4-FFF2-40B4-BE49-F238E27FC236}">
                <a16:creationId xmlns:a16="http://schemas.microsoft.com/office/drawing/2014/main" id="{BBF0431D-C5A9-DE7B-CE41-6ECFD565D5E7}"/>
              </a:ext>
            </a:extLst>
          </p:cNvPr>
          <p:cNvSpPr/>
          <p:nvPr/>
        </p:nvSpPr>
        <p:spPr>
          <a:xfrm>
            <a:off x="325888" y="4225915"/>
            <a:ext cx="2655347" cy="1793647"/>
          </a:xfrm>
          <a:prstGeom prst="flowChartAlternateProcess">
            <a:avLst/>
          </a:prstGeom>
          <a:solidFill>
            <a:srgbClr val="00B0F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  <a:p>
            <a:pPr algn="ctr"/>
            <a:r>
              <a:rPr lang="it-IT" dirty="0"/>
              <a:t>Transformer with a </a:t>
            </a:r>
            <a:r>
              <a:rPr lang="it-IT" dirty="0" err="1"/>
              <a:t>reduction</a:t>
            </a:r>
            <a:r>
              <a:rPr lang="it-IT" dirty="0"/>
              <a:t> ratio </a:t>
            </a:r>
            <a:r>
              <a:rPr lang="it-IT" dirty="0" err="1"/>
              <a:t>consistent</a:t>
            </a:r>
            <a:r>
              <a:rPr lang="it-IT" dirty="0"/>
              <a:t> with the standard </a:t>
            </a:r>
            <a:r>
              <a:rPr lang="it-IT" dirty="0" err="1"/>
              <a:t>harmonic</a:t>
            </a:r>
            <a:r>
              <a:rPr lang="it-IT" dirty="0"/>
              <a:t> drive.</a:t>
            </a:r>
          </a:p>
          <a:p>
            <a:pPr algn="ctr"/>
            <a:endParaRPr lang="it-IT" dirty="0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43655FF5-417C-3DC9-4286-02E3AB59D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018" y="1995608"/>
            <a:ext cx="2496004" cy="179364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35" name="Elaborazione alternativa 34">
            <a:extLst>
              <a:ext uri="{FF2B5EF4-FFF2-40B4-BE49-F238E27FC236}">
                <a16:creationId xmlns:a16="http://schemas.microsoft.com/office/drawing/2014/main" id="{91C0C7DC-5E32-A7F6-0B8F-02AAC9A9B480}"/>
              </a:ext>
            </a:extLst>
          </p:cNvPr>
          <p:cNvSpPr/>
          <p:nvPr/>
        </p:nvSpPr>
        <p:spPr>
          <a:xfrm>
            <a:off x="9420146" y="4195651"/>
            <a:ext cx="2655347" cy="1793647"/>
          </a:xfrm>
          <a:prstGeom prst="flowChartAlternateProcess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Non-</a:t>
            </a:r>
            <a:r>
              <a:rPr lang="it-IT" dirty="0" err="1"/>
              <a:t>linearity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modeled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distinct</a:t>
            </a:r>
            <a:r>
              <a:rPr lang="it-IT" dirty="0"/>
              <a:t> linear </a:t>
            </a:r>
            <a:r>
              <a:rPr lang="it-IT" dirty="0" err="1"/>
              <a:t>sections</a:t>
            </a:r>
            <a:r>
              <a:rPr lang="it-IT" dirty="0"/>
              <a:t>.</a:t>
            </a:r>
          </a:p>
          <a:p>
            <a:pPr algn="ctr"/>
            <a:endParaRPr lang="it-IT" dirty="0"/>
          </a:p>
        </p:txBody>
      </p:sp>
      <p:pic>
        <p:nvPicPr>
          <p:cNvPr id="39" name="Elemento grafico 38" descr="Programmatore (maschile) contorno">
            <a:hlinkClick r:id="rId4" action="ppaction://hlinksldjump"/>
            <a:extLst>
              <a:ext uri="{FF2B5EF4-FFF2-40B4-BE49-F238E27FC236}">
                <a16:creationId xmlns:a16="http://schemas.microsoft.com/office/drawing/2014/main" id="{A7034CA0-04D9-FFB6-85DA-D4A15FB84B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8645" y="2423536"/>
            <a:ext cx="436594" cy="436594"/>
          </a:xfrm>
          <a:prstGeom prst="rect">
            <a:avLst/>
          </a:prstGeom>
        </p:spPr>
      </p:pic>
      <p:pic>
        <p:nvPicPr>
          <p:cNvPr id="40" name="Elemento grafico 39" descr="Programmatore (maschile) contorno">
            <a:hlinkClick r:id="rId4" action="ppaction://hlinksldjump"/>
            <a:extLst>
              <a:ext uri="{FF2B5EF4-FFF2-40B4-BE49-F238E27FC236}">
                <a16:creationId xmlns:a16="http://schemas.microsoft.com/office/drawing/2014/main" id="{EBD05F5B-2004-8852-8AC8-740965C1F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403" y="5487817"/>
            <a:ext cx="501482" cy="501482"/>
          </a:xfrm>
          <a:prstGeom prst="rect">
            <a:avLst/>
          </a:prstGeom>
        </p:spPr>
      </p:pic>
      <p:pic>
        <p:nvPicPr>
          <p:cNvPr id="41" name="Elemento grafico 40" descr="Programmatore (maschile) contorno">
            <a:hlinkClick r:id="rId4" action="ppaction://hlinksldjump"/>
            <a:extLst>
              <a:ext uri="{FF2B5EF4-FFF2-40B4-BE49-F238E27FC236}">
                <a16:creationId xmlns:a16="http://schemas.microsoft.com/office/drawing/2014/main" id="{47EFEF04-BC51-32A2-FFAA-A8549D2CB9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69841" y="2567319"/>
            <a:ext cx="415446" cy="415446"/>
          </a:xfrm>
          <a:prstGeom prst="rect">
            <a:avLst/>
          </a:prstGeom>
        </p:spPr>
      </p:pic>
      <p:pic>
        <p:nvPicPr>
          <p:cNvPr id="42" name="Elemento grafico 41" descr="Programmatore (maschile) contorno">
            <a:hlinkClick r:id="rId4" action="ppaction://hlinksldjump"/>
            <a:extLst>
              <a:ext uri="{FF2B5EF4-FFF2-40B4-BE49-F238E27FC236}">
                <a16:creationId xmlns:a16="http://schemas.microsoft.com/office/drawing/2014/main" id="{1E6EF0D4-FCF8-9EE7-B476-41D6B2FCBF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0406" y="5368111"/>
            <a:ext cx="514603" cy="51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31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64B52-FB89-BA5E-BD53-7970AD98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B7351896-DF8B-6313-E6D0-76B6EFC3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Harmonic</a:t>
            </a:r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 drive: code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section</a:t>
            </a:r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 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FB1C26C-1FA5-49EE-9E97-53F268587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5" y="1886673"/>
            <a:ext cx="4770769" cy="30846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8685BD06-A905-B605-D0A6-543A4171FF71}"/>
              </a:ext>
            </a:extLst>
          </p:cNvPr>
          <p:cNvSpPr/>
          <p:nvPr/>
        </p:nvSpPr>
        <p:spPr>
          <a:xfrm>
            <a:off x="4411132" y="1966752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206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B8802301-AD6A-B141-52E2-FAA7BED06C1A}"/>
              </a:ext>
            </a:extLst>
          </p:cNvPr>
          <p:cNvSpPr/>
          <p:nvPr/>
        </p:nvSpPr>
        <p:spPr>
          <a:xfrm>
            <a:off x="4778289" y="3768192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B0F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BD5D8667-F9EB-368E-15D3-B5ED552766A8}"/>
              </a:ext>
            </a:extLst>
          </p:cNvPr>
          <p:cNvSpPr/>
          <p:nvPr/>
        </p:nvSpPr>
        <p:spPr>
          <a:xfrm>
            <a:off x="5278122" y="1961720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E7AB05C0-9D94-D724-2285-28CE2CDEF45C}"/>
              </a:ext>
            </a:extLst>
          </p:cNvPr>
          <p:cNvSpPr/>
          <p:nvPr/>
        </p:nvSpPr>
        <p:spPr>
          <a:xfrm>
            <a:off x="5550094" y="4417485"/>
            <a:ext cx="551886" cy="541066"/>
          </a:xfrm>
          <a:prstGeom prst="ellipse">
            <a:avLst/>
          </a:prstGeom>
          <a:noFill/>
          <a:ln w="28575" cap="flat" cmpd="sng" algn="ctr">
            <a:solidFill>
              <a:srgbClr val="00B05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551886"/>
                      <a:gd name="connsiteY0" fmla="*/ 270533 h 541066"/>
                      <a:gd name="connsiteX1" fmla="*/ 275943 w 551886"/>
                      <a:gd name="connsiteY1" fmla="*/ 0 h 541066"/>
                      <a:gd name="connsiteX2" fmla="*/ 551886 w 551886"/>
                      <a:gd name="connsiteY2" fmla="*/ 270533 h 541066"/>
                      <a:gd name="connsiteX3" fmla="*/ 275943 w 551886"/>
                      <a:gd name="connsiteY3" fmla="*/ 541066 h 541066"/>
                      <a:gd name="connsiteX4" fmla="*/ 0 w 551886"/>
                      <a:gd name="connsiteY4" fmla="*/ 270533 h 541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1886" h="541066" extrusionOk="0">
                        <a:moveTo>
                          <a:pt x="0" y="270533"/>
                        </a:moveTo>
                        <a:cubicBezTo>
                          <a:pt x="6549" y="103701"/>
                          <a:pt x="141825" y="16821"/>
                          <a:pt x="275943" y="0"/>
                        </a:cubicBezTo>
                        <a:cubicBezTo>
                          <a:pt x="455482" y="9351"/>
                          <a:pt x="552528" y="136738"/>
                          <a:pt x="551886" y="270533"/>
                        </a:cubicBezTo>
                        <a:cubicBezTo>
                          <a:pt x="563492" y="392148"/>
                          <a:pt x="458859" y="551656"/>
                          <a:pt x="275943" y="541066"/>
                        </a:cubicBezTo>
                        <a:cubicBezTo>
                          <a:pt x="132260" y="546917"/>
                          <a:pt x="27233" y="404019"/>
                          <a:pt x="0" y="27053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igura a mano libera 16">
            <a:extLst>
              <a:ext uri="{FF2B5EF4-FFF2-40B4-BE49-F238E27FC236}">
                <a16:creationId xmlns:a16="http://schemas.microsoft.com/office/drawing/2014/main" id="{E36BD77A-DEFB-FDDA-DD6F-E007A09A373B}"/>
              </a:ext>
            </a:extLst>
          </p:cNvPr>
          <p:cNvSpPr/>
          <p:nvPr/>
        </p:nvSpPr>
        <p:spPr>
          <a:xfrm>
            <a:off x="1284790" y="4363656"/>
            <a:ext cx="3646025" cy="1377387"/>
          </a:xfrm>
          <a:custGeom>
            <a:avLst/>
            <a:gdLst>
              <a:gd name="connsiteX0" fmla="*/ 3646025 w 3646025"/>
              <a:gd name="connsiteY0" fmla="*/ 0 h 1377387"/>
              <a:gd name="connsiteX1" fmla="*/ 3622876 w 3646025"/>
              <a:gd name="connsiteY1" fmla="*/ 752354 h 1377387"/>
              <a:gd name="connsiteX2" fmla="*/ 3483980 w 3646025"/>
              <a:gd name="connsiteY2" fmla="*/ 1006997 h 1377387"/>
              <a:gd name="connsiteX3" fmla="*/ 3391382 w 3646025"/>
              <a:gd name="connsiteY3" fmla="*/ 1099595 h 1377387"/>
              <a:gd name="connsiteX4" fmla="*/ 3264061 w 3646025"/>
              <a:gd name="connsiteY4" fmla="*/ 1192192 h 1377387"/>
              <a:gd name="connsiteX5" fmla="*/ 2939969 w 3646025"/>
              <a:gd name="connsiteY5" fmla="*/ 1307939 h 1377387"/>
              <a:gd name="connsiteX6" fmla="*/ 2395959 w 3646025"/>
              <a:gd name="connsiteY6" fmla="*/ 1365812 h 1377387"/>
              <a:gd name="connsiteX7" fmla="*/ 2095018 w 3646025"/>
              <a:gd name="connsiteY7" fmla="*/ 1377387 h 1377387"/>
              <a:gd name="connsiteX8" fmla="*/ 1388962 w 3646025"/>
              <a:gd name="connsiteY8" fmla="*/ 1354238 h 1377387"/>
              <a:gd name="connsiteX9" fmla="*/ 1076445 w 3646025"/>
              <a:gd name="connsiteY9" fmla="*/ 1284790 h 1377387"/>
              <a:gd name="connsiteX10" fmla="*/ 763929 w 3646025"/>
              <a:gd name="connsiteY10" fmla="*/ 1192192 h 1377387"/>
              <a:gd name="connsiteX11" fmla="*/ 300942 w 3646025"/>
              <a:gd name="connsiteY11" fmla="*/ 995422 h 1377387"/>
              <a:gd name="connsiteX12" fmla="*/ 23149 w 3646025"/>
              <a:gd name="connsiteY12" fmla="*/ 810228 h 1377387"/>
              <a:gd name="connsiteX13" fmla="*/ 0 w 3646025"/>
              <a:gd name="connsiteY13" fmla="*/ 787078 h 1377387"/>
              <a:gd name="connsiteX14" fmla="*/ 46299 w 3646025"/>
              <a:gd name="connsiteY14" fmla="*/ 775503 h 1377387"/>
              <a:gd name="connsiteX15" fmla="*/ 92597 w 3646025"/>
              <a:gd name="connsiteY15" fmla="*/ 787078 h 1377387"/>
              <a:gd name="connsiteX16" fmla="*/ 208344 w 3646025"/>
              <a:gd name="connsiteY16" fmla="*/ 821802 h 1377387"/>
              <a:gd name="connsiteX17" fmla="*/ 266218 w 3646025"/>
              <a:gd name="connsiteY17" fmla="*/ 833377 h 1377387"/>
              <a:gd name="connsiteX18" fmla="*/ 324091 w 3646025"/>
              <a:gd name="connsiteY18" fmla="*/ 856526 h 1377387"/>
              <a:gd name="connsiteX19" fmla="*/ 381964 w 3646025"/>
              <a:gd name="connsiteY19" fmla="*/ 868101 h 1377387"/>
              <a:gd name="connsiteX20" fmla="*/ 474562 w 3646025"/>
              <a:gd name="connsiteY20" fmla="*/ 902825 h 1377387"/>
              <a:gd name="connsiteX21" fmla="*/ 532435 w 3646025"/>
              <a:gd name="connsiteY21" fmla="*/ 914400 h 1377387"/>
              <a:gd name="connsiteX22" fmla="*/ 578734 w 3646025"/>
              <a:gd name="connsiteY22" fmla="*/ 925974 h 1377387"/>
              <a:gd name="connsiteX23" fmla="*/ 648182 w 3646025"/>
              <a:gd name="connsiteY23" fmla="*/ 949124 h 137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46025" h="1377387">
                <a:moveTo>
                  <a:pt x="3646025" y="0"/>
                </a:moveTo>
                <a:cubicBezTo>
                  <a:pt x="3638309" y="250785"/>
                  <a:pt x="3645592" y="502481"/>
                  <a:pt x="3622876" y="752354"/>
                </a:cubicBezTo>
                <a:cubicBezTo>
                  <a:pt x="3616299" y="824704"/>
                  <a:pt x="3528591" y="953464"/>
                  <a:pt x="3483980" y="1006997"/>
                </a:cubicBezTo>
                <a:cubicBezTo>
                  <a:pt x="3456035" y="1040531"/>
                  <a:pt x="3424771" y="1071478"/>
                  <a:pt x="3391382" y="1099595"/>
                </a:cubicBezTo>
                <a:cubicBezTo>
                  <a:pt x="3351241" y="1133398"/>
                  <a:pt x="3309390" y="1165750"/>
                  <a:pt x="3264061" y="1192192"/>
                </a:cubicBezTo>
                <a:cubicBezTo>
                  <a:pt x="3160704" y="1252483"/>
                  <a:pt x="3056916" y="1284549"/>
                  <a:pt x="2939969" y="1307939"/>
                </a:cubicBezTo>
                <a:cubicBezTo>
                  <a:pt x="2757432" y="1344447"/>
                  <a:pt x="2582459" y="1355255"/>
                  <a:pt x="2395959" y="1365812"/>
                </a:cubicBezTo>
                <a:cubicBezTo>
                  <a:pt x="2295732" y="1371485"/>
                  <a:pt x="2195332" y="1373529"/>
                  <a:pt x="2095018" y="1377387"/>
                </a:cubicBezTo>
                <a:cubicBezTo>
                  <a:pt x="1859666" y="1369671"/>
                  <a:pt x="1623473" y="1375557"/>
                  <a:pt x="1388962" y="1354238"/>
                </a:cubicBezTo>
                <a:cubicBezTo>
                  <a:pt x="1282687" y="1344577"/>
                  <a:pt x="1179743" y="1311571"/>
                  <a:pt x="1076445" y="1284790"/>
                </a:cubicBezTo>
                <a:cubicBezTo>
                  <a:pt x="971274" y="1257523"/>
                  <a:pt x="867002" y="1226550"/>
                  <a:pt x="763929" y="1192192"/>
                </a:cubicBezTo>
                <a:cubicBezTo>
                  <a:pt x="599062" y="1137236"/>
                  <a:pt x="450679" y="1080986"/>
                  <a:pt x="300942" y="995422"/>
                </a:cubicBezTo>
                <a:cubicBezTo>
                  <a:pt x="199004" y="937172"/>
                  <a:pt x="109159" y="883950"/>
                  <a:pt x="23149" y="810228"/>
                </a:cubicBezTo>
                <a:cubicBezTo>
                  <a:pt x="14863" y="803126"/>
                  <a:pt x="7716" y="794795"/>
                  <a:pt x="0" y="787078"/>
                </a:cubicBezTo>
                <a:cubicBezTo>
                  <a:pt x="15433" y="783220"/>
                  <a:pt x="30391" y="775503"/>
                  <a:pt x="46299" y="775503"/>
                </a:cubicBezTo>
                <a:cubicBezTo>
                  <a:pt x="62207" y="775503"/>
                  <a:pt x="77068" y="783627"/>
                  <a:pt x="92597" y="787078"/>
                </a:cubicBezTo>
                <a:cubicBezTo>
                  <a:pt x="285906" y="830037"/>
                  <a:pt x="10689" y="762506"/>
                  <a:pt x="208344" y="821802"/>
                </a:cubicBezTo>
                <a:cubicBezTo>
                  <a:pt x="227188" y="827455"/>
                  <a:pt x="247374" y="827724"/>
                  <a:pt x="266218" y="833377"/>
                </a:cubicBezTo>
                <a:cubicBezTo>
                  <a:pt x="286119" y="839347"/>
                  <a:pt x="304190" y="850556"/>
                  <a:pt x="324091" y="856526"/>
                </a:cubicBezTo>
                <a:cubicBezTo>
                  <a:pt x="342934" y="862179"/>
                  <a:pt x="363121" y="862448"/>
                  <a:pt x="381964" y="868101"/>
                </a:cubicBezTo>
                <a:cubicBezTo>
                  <a:pt x="435052" y="884027"/>
                  <a:pt x="429590" y="891582"/>
                  <a:pt x="474562" y="902825"/>
                </a:cubicBezTo>
                <a:cubicBezTo>
                  <a:pt x="493648" y="907597"/>
                  <a:pt x="513230" y="910132"/>
                  <a:pt x="532435" y="914400"/>
                </a:cubicBezTo>
                <a:cubicBezTo>
                  <a:pt x="547964" y="917851"/>
                  <a:pt x="563301" y="922116"/>
                  <a:pt x="578734" y="925974"/>
                </a:cubicBezTo>
                <a:cubicBezTo>
                  <a:pt x="631935" y="952575"/>
                  <a:pt x="607778" y="949124"/>
                  <a:pt x="648182" y="949124"/>
                </a:cubicBezTo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2E68A84-19EE-4262-A8DE-F53C8BCEC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696" y="1418629"/>
            <a:ext cx="2003742" cy="1118030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CE41C33-2CE5-EC80-9DF5-AA6BD6880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41" y="4417485"/>
            <a:ext cx="2240549" cy="1377386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AC7A81B-E26B-B176-4A9B-CA02E553B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309" y="5206247"/>
            <a:ext cx="937385" cy="73540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60EE6C1-63EC-BB58-7A6A-FF69C691D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004" y="4069617"/>
            <a:ext cx="3416467" cy="187203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D32D8426-802A-A954-4FFA-5423E1780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700" y="1301538"/>
            <a:ext cx="3089811" cy="1566034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42161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31D2D09-0BCB-23A2-3019-4B45E1D5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Joint: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description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B0C1DA0-64BB-7762-725E-E1CA84D82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46" y="1377086"/>
            <a:ext cx="6759006" cy="4245500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</p:pic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D6712614-9241-440E-1849-00C2BBEA1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9131670"/>
              </p:ext>
            </p:extLst>
          </p:nvPr>
        </p:nvGraphicFramePr>
        <p:xfrm>
          <a:off x="732913" y="1474363"/>
          <a:ext cx="3967168" cy="405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1433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86B31B3B-1C39-83E0-18BC-43A044EA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Link: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description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C6D60937-FB41-8297-5799-219A85423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158850"/>
              </p:ext>
            </p:extLst>
          </p:nvPr>
        </p:nvGraphicFramePr>
        <p:xfrm>
          <a:off x="7103004" y="1526182"/>
          <a:ext cx="4461553" cy="3805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magine 7">
            <a:extLst>
              <a:ext uri="{FF2B5EF4-FFF2-40B4-BE49-F238E27FC236}">
                <a16:creationId xmlns:a16="http://schemas.microsoft.com/office/drawing/2014/main" id="{060A85CD-CD0F-FE49-8899-0FABCB7002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635" y="1302240"/>
            <a:ext cx="6540521" cy="4563721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72710FA-9290-3718-4B46-6A72619D2E7D}"/>
              </a:ext>
            </a:extLst>
          </p:cNvPr>
          <p:cNvSpPr txBox="1"/>
          <p:nvPr/>
        </p:nvSpPr>
        <p:spPr>
          <a:xfrm>
            <a:off x="9333781" y="-3329796"/>
            <a:ext cx="184731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926B601E-8D63-B6E7-20A5-21E1E79F48D8}"/>
              </a:ext>
            </a:extLst>
          </p:cNvPr>
          <p:cNvSpPr/>
          <p:nvPr/>
        </p:nvSpPr>
        <p:spPr>
          <a:xfrm>
            <a:off x="5142651" y="2048031"/>
            <a:ext cx="885615" cy="769675"/>
          </a:xfrm>
          <a:prstGeom prst="ellipse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885615"/>
                      <a:gd name="connsiteY0" fmla="*/ 384838 h 769675"/>
                      <a:gd name="connsiteX1" fmla="*/ 442808 w 885615"/>
                      <a:gd name="connsiteY1" fmla="*/ 0 h 769675"/>
                      <a:gd name="connsiteX2" fmla="*/ 885616 w 885615"/>
                      <a:gd name="connsiteY2" fmla="*/ 384838 h 769675"/>
                      <a:gd name="connsiteX3" fmla="*/ 442808 w 885615"/>
                      <a:gd name="connsiteY3" fmla="*/ 769676 h 769675"/>
                      <a:gd name="connsiteX4" fmla="*/ 0 w 885615"/>
                      <a:gd name="connsiteY4" fmla="*/ 384838 h 769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85615" h="769675" extrusionOk="0">
                        <a:moveTo>
                          <a:pt x="0" y="384838"/>
                        </a:moveTo>
                        <a:cubicBezTo>
                          <a:pt x="10951" y="143167"/>
                          <a:pt x="210013" y="10822"/>
                          <a:pt x="442808" y="0"/>
                        </a:cubicBezTo>
                        <a:cubicBezTo>
                          <a:pt x="707756" y="7026"/>
                          <a:pt x="887619" y="221053"/>
                          <a:pt x="885616" y="384838"/>
                        </a:cubicBezTo>
                        <a:cubicBezTo>
                          <a:pt x="893524" y="578437"/>
                          <a:pt x="712409" y="778367"/>
                          <a:pt x="442808" y="769676"/>
                        </a:cubicBezTo>
                        <a:cubicBezTo>
                          <a:pt x="246320" y="801941"/>
                          <a:pt x="47233" y="569758"/>
                          <a:pt x="0" y="384838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347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E32CC-8B5B-0409-F79A-E379DB53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66702D1-E066-EB50-FDF2-E5A2F9B6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Link: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gravity</a:t>
            </a:r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 force </a:t>
            </a:r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effects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19BBA35-3569-F41A-095F-0E906C798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87" y="1302241"/>
            <a:ext cx="4835368" cy="3373932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6ACFE62-9B5F-C152-B4AF-68BF4278E8CC}"/>
              </a:ext>
            </a:extLst>
          </p:cNvPr>
          <p:cNvSpPr txBox="1"/>
          <p:nvPr/>
        </p:nvSpPr>
        <p:spPr>
          <a:xfrm>
            <a:off x="9333781" y="-3329796"/>
            <a:ext cx="184731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A9B6BC8E-C49E-3834-3705-C05EA5817B58}"/>
              </a:ext>
            </a:extLst>
          </p:cNvPr>
          <p:cNvSpPr/>
          <p:nvPr/>
        </p:nvSpPr>
        <p:spPr>
          <a:xfrm>
            <a:off x="3730540" y="1804963"/>
            <a:ext cx="885615" cy="769675"/>
          </a:xfrm>
          <a:prstGeom prst="ellipse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3597573597">
                  <a:custGeom>
                    <a:avLst/>
                    <a:gdLst>
                      <a:gd name="connsiteX0" fmla="*/ 0 w 885615"/>
                      <a:gd name="connsiteY0" fmla="*/ 384838 h 769675"/>
                      <a:gd name="connsiteX1" fmla="*/ 442808 w 885615"/>
                      <a:gd name="connsiteY1" fmla="*/ 0 h 769675"/>
                      <a:gd name="connsiteX2" fmla="*/ 885616 w 885615"/>
                      <a:gd name="connsiteY2" fmla="*/ 384838 h 769675"/>
                      <a:gd name="connsiteX3" fmla="*/ 442808 w 885615"/>
                      <a:gd name="connsiteY3" fmla="*/ 769676 h 769675"/>
                      <a:gd name="connsiteX4" fmla="*/ 0 w 885615"/>
                      <a:gd name="connsiteY4" fmla="*/ 384838 h 769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85615" h="769675" extrusionOk="0">
                        <a:moveTo>
                          <a:pt x="0" y="384838"/>
                        </a:moveTo>
                        <a:cubicBezTo>
                          <a:pt x="10951" y="143167"/>
                          <a:pt x="210013" y="10822"/>
                          <a:pt x="442808" y="0"/>
                        </a:cubicBezTo>
                        <a:cubicBezTo>
                          <a:pt x="707756" y="7026"/>
                          <a:pt x="887619" y="221053"/>
                          <a:pt x="885616" y="384838"/>
                        </a:cubicBezTo>
                        <a:cubicBezTo>
                          <a:pt x="893524" y="578437"/>
                          <a:pt x="712409" y="778367"/>
                          <a:pt x="442808" y="769676"/>
                        </a:cubicBezTo>
                        <a:cubicBezTo>
                          <a:pt x="246320" y="801941"/>
                          <a:pt x="47233" y="569758"/>
                          <a:pt x="0" y="384838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14" name="Diagramma 13">
            <a:extLst>
              <a:ext uri="{FF2B5EF4-FFF2-40B4-BE49-F238E27FC236}">
                <a16:creationId xmlns:a16="http://schemas.microsoft.com/office/drawing/2014/main" id="{A0705F41-99CF-3AAD-8DEB-E3ECCF047B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2949065"/>
              </p:ext>
            </p:extLst>
          </p:nvPr>
        </p:nvGraphicFramePr>
        <p:xfrm>
          <a:off x="6523380" y="1212581"/>
          <a:ext cx="4442534" cy="1776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Freccia curva 14">
            <a:extLst>
              <a:ext uri="{FF2B5EF4-FFF2-40B4-BE49-F238E27FC236}">
                <a16:creationId xmlns:a16="http://schemas.microsoft.com/office/drawing/2014/main" id="{FDDC378F-F054-B4B7-808B-CE2F7DDAA046}"/>
              </a:ext>
            </a:extLst>
          </p:cNvPr>
          <p:cNvSpPr/>
          <p:nvPr/>
        </p:nvSpPr>
        <p:spPr>
          <a:xfrm rot="1851612">
            <a:off x="4670925" y="864226"/>
            <a:ext cx="1549001" cy="1447729"/>
          </a:xfrm>
          <a:prstGeom prst="bentArrow">
            <a:avLst>
              <a:gd name="adj1" fmla="val 5762"/>
              <a:gd name="adj2" fmla="val 14766"/>
              <a:gd name="adj3" fmla="val 25000"/>
              <a:gd name="adj4" fmla="val 79311"/>
            </a:avLst>
          </a:prstGeom>
          <a:solidFill>
            <a:schemeClr val="accent5">
              <a:lumMod val="75000"/>
            </a:schemeClr>
          </a:solidFill>
          <a:ln w="12700" cap="flat" cmpd="sng" algn="ctr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7" name="Elemento grafico 16" descr="Programmatore (maschile) contorno">
            <a:extLst>
              <a:ext uri="{FF2B5EF4-FFF2-40B4-BE49-F238E27FC236}">
                <a16:creationId xmlns:a16="http://schemas.microsoft.com/office/drawing/2014/main" id="{31F3F7C4-5685-B879-CA0E-A02A3BD0E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34838" y="3651805"/>
            <a:ext cx="947617" cy="94761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6DD25A6B-9DCE-8685-3DC9-22B23AB742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0271" y="2989207"/>
            <a:ext cx="5221897" cy="3038324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653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A0DC3F86-52AB-0045-E40F-178FCDF1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Pid</a:t>
            </a:r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-controller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D149D95-3D42-94CF-ED75-23177591D72C}"/>
                  </a:ext>
                </a:extLst>
              </p:cNvPr>
              <p:cNvSpPr txBox="1"/>
              <p:nvPr/>
            </p:nvSpPr>
            <p:spPr>
              <a:xfrm>
                <a:off x="2060264" y="4805184"/>
                <a:ext cx="7842019" cy="1164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b="1" dirty="0"/>
                  <a:t>Desired </a:t>
                </a:r>
                <a:r>
                  <a:rPr lang="it-IT" b="1" dirty="0" err="1"/>
                  <a:t>Final</a:t>
                </a:r>
                <a:r>
                  <a:rPr lang="it-IT" b="1" dirty="0"/>
                  <a:t> </a:t>
                </a:r>
                <a:r>
                  <a:rPr lang="it-IT" b="1" dirty="0" err="1"/>
                  <a:t>Configuration</a:t>
                </a:r>
                <a:r>
                  <a:rPr lang="it-IT" b="1" dirty="0"/>
                  <a:t>: </a:t>
                </a:r>
              </a:p>
              <a:p>
                <a:pPr lvl="1"/>
                <a:endParaRPr lang="it-IT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it-IT" dirty="0"/>
                        <m:t>;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D149D95-3D42-94CF-ED75-23177591D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264" y="4805184"/>
                <a:ext cx="7842019" cy="1164934"/>
              </a:xfrm>
              <a:prstGeom prst="rect">
                <a:avLst/>
              </a:prstGeom>
              <a:blipFill>
                <a:blip r:embed="rId2"/>
                <a:stretch>
                  <a:fillRect t="-2174" b="-32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>
            <a:extLst>
              <a:ext uri="{FF2B5EF4-FFF2-40B4-BE49-F238E27FC236}">
                <a16:creationId xmlns:a16="http://schemas.microsoft.com/office/drawing/2014/main" id="{63886945-DB0E-3844-2B21-698BF81D0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004" y="1143302"/>
            <a:ext cx="6164366" cy="33865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7266ED2-B097-0E91-E682-6A599CE1B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30" y="1143302"/>
            <a:ext cx="4096361" cy="3413634"/>
          </a:xfrm>
          <a:prstGeom prst="rect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1860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5925-9E6A-80EA-8312-A79A0E3B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23FB5C70-227E-F6D1-B5DB-DDA339FD7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2D-simulation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2" name="WhatsApp Video 2025-07-23 at 00.05.07">
            <a:hlinkClick r:id="" action="ppaction://media"/>
            <a:extLst>
              <a:ext uri="{FF2B5EF4-FFF2-40B4-BE49-F238E27FC236}">
                <a16:creationId xmlns:a16="http://schemas.microsoft.com/office/drawing/2014/main" id="{FE8D1256-2439-7B84-0440-DFFF85CE4D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2898" y="756231"/>
            <a:ext cx="10346204" cy="53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4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1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D2CBC6C6-0858-CDF2-9987-56EDD18F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30" y="67577"/>
            <a:ext cx="9710134" cy="667657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  <a:t>2D-simulation</a:t>
            </a:r>
            <a:br>
              <a:rPr lang="it-IT" dirty="0">
                <a:latin typeface="ADLaM Display" panose="020F0502020204030204" pitchFamily="34" charset="0"/>
                <a:cs typeface="ADLaM Display" panose="020F0502020204030204" pitchFamily="34" charset="0"/>
              </a:rPr>
            </a:br>
            <a:endParaRPr lang="it-IT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pic>
        <p:nvPicPr>
          <p:cNvPr id="8" name="WhatsApp Video 2025-07-21 at 23.57.14">
            <a:hlinkClick r:id="" action="ppaction://media"/>
            <a:extLst>
              <a:ext uri="{FF2B5EF4-FFF2-40B4-BE49-F238E27FC236}">
                <a16:creationId xmlns:a16="http://schemas.microsoft.com/office/drawing/2014/main" id="{58EFE564-65D7-88C7-0DC1-C95B3B96B0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0690" y="728911"/>
            <a:ext cx="10310620" cy="53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434</Words>
  <Application>Microsoft Office PowerPoint</Application>
  <PresentationFormat>Widescreen</PresentationFormat>
  <Paragraphs>58</Paragraphs>
  <Slides>12</Slides>
  <Notes>4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1" baseType="lpstr">
      <vt:lpstr>ADLaM Display</vt:lpstr>
      <vt:lpstr>Aptos</vt:lpstr>
      <vt:lpstr>Arial</vt:lpstr>
      <vt:lpstr>Calisto MT</vt:lpstr>
      <vt:lpstr>Cambria Math</vt:lpstr>
      <vt:lpstr>Gill Sans Ultra Bold</vt:lpstr>
      <vt:lpstr>Phosphate Inline</vt:lpstr>
      <vt:lpstr>Univers Condensed</vt:lpstr>
      <vt:lpstr>ChronicleVTI</vt:lpstr>
      <vt:lpstr>UR-5 Robot Manipulator</vt:lpstr>
      <vt:lpstr>Presentazione standard di PowerPoint</vt:lpstr>
      <vt:lpstr>MODEL</vt:lpstr>
      <vt:lpstr>Harmonic drive: description </vt:lpstr>
      <vt:lpstr>Harmonic drive: elements </vt:lpstr>
      <vt:lpstr>Harmonic drive: code section  </vt:lpstr>
      <vt:lpstr>Joint: description  </vt:lpstr>
      <vt:lpstr>Link: description </vt:lpstr>
      <vt:lpstr>Link: gravity force effects </vt:lpstr>
      <vt:lpstr>Pid-controller</vt:lpstr>
      <vt:lpstr>2D-simulation </vt:lpstr>
      <vt:lpstr>2D-simulation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Luigi Cuffaro - luigi.cuffaro@studio.unibo.it</dc:creator>
  <cp:lastModifiedBy>Simone Romeo - simone.romeo3@studio.unibo.it</cp:lastModifiedBy>
  <cp:revision>3</cp:revision>
  <dcterms:created xsi:type="dcterms:W3CDTF">2025-07-20T19:09:00Z</dcterms:created>
  <dcterms:modified xsi:type="dcterms:W3CDTF">2025-09-24T15:53:10Z</dcterms:modified>
</cp:coreProperties>
</file>